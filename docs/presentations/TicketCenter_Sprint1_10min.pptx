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BFC1BE-B8DE-4609-B4A3-6131B11A247E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B769FD-8EDF-407A-90C5-141C7E604F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8548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h-TH"/>
              <a:t>เวลาแนะนำ: 20 วินาที</a:t>
            </a:r>
          </a:p>
          <a:p>
            <a:endParaRPr lang="th-TH"/>
          </a:p>
          <a:p>
            <a:r>
              <a:rPr lang="th-TH"/>
              <a:t>สวัสดีครับ วันนี้กลุ่มของเรานำเสนอ </a:t>
            </a:r>
            <a:r>
              <a:rPr lang="en-US"/>
              <a:t>TicketCenter </a:t>
            </a:r>
            <a:r>
              <a:rPr lang="th-TH"/>
              <a:t>ระบบจัดการคำขอบริการภายในองค์กร ใน </a:t>
            </a:r>
            <a:r>
              <a:rPr lang="en-US"/>
              <a:t>Sprint 1 </a:t>
            </a:r>
            <a:r>
              <a:rPr lang="th-TH"/>
              <a:t>เราเน้นการรันระบบ </a:t>
            </a:r>
            <a:r>
              <a:rPr lang="en-US"/>
              <a:t>Infrastructure </a:t>
            </a:r>
            <a:r>
              <a:rPr lang="th-TH"/>
              <a:t>การควบคุมสิทธิ์และความปลอดภัย และฟีเจอร์ที่ผู้ใช้ใช้งานได้จริง ใช้เวลาประมาณ 10 นาทีครับ</a:t>
            </a:r>
          </a:p>
          <a:p>
            <a:endParaRPr lang="th-TH"/>
          </a:p>
          <a:p>
            <a:r>
              <a:rPr lang="th-TH"/>
              <a:t>แหล่งข้อมูลโครงการ:</a:t>
            </a:r>
          </a:p>
          <a:p>
            <a:r>
              <a:rPr lang="en-US"/>
              <a:t>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B769FD-8EDF-407A-90C5-141C7E604FE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440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h-TH"/>
              <a:t>เวลาแนะนำ: 40 วินาที</a:t>
            </a:r>
          </a:p>
          <a:p>
            <a:endParaRPr lang="th-TH"/>
          </a:p>
          <a:p>
            <a:r>
              <a:rPr lang="th-TH"/>
              <a:t>ตัวอย่างคือพนักงานเปิดคอมพิวเตอร์ไม่ได้และต้องการให้ </a:t>
            </a:r>
            <a:r>
              <a:rPr lang="en-US"/>
              <a:t>IT </a:t>
            </a:r>
            <a:r>
              <a:rPr lang="th-TH"/>
              <a:t>ช่วย ถ้าส่งเรื่องหลายช่องทาง ผู้แจ้งจะไม่รู้ว่าทีมรับเรื่องแล้วหรือยังและต้องถามความคืบหน้าซ้ำ </a:t>
            </a:r>
            <a:r>
              <a:rPr lang="en-US"/>
              <a:t>TicketCenter </a:t>
            </a:r>
            <a:r>
              <a:rPr lang="th-TH"/>
              <a:t>เก็บคำขอเป็น </a:t>
            </a:r>
            <a:r>
              <a:rPr lang="en-US"/>
              <a:t>Ticket </a:t>
            </a:r>
            <a:r>
              <a:rPr lang="th-TH"/>
              <a:t>หนึ่งใบ ระบุฝ่ายรับผิดชอบ สถานะ บทสนทนา และประวัติไว้ด้วยกัน พนักงานส่งข้อมูลผลกระทบ ส่วนเจ้าหน้าที่ประเมินความเร่งด่วนเพื่อจัดลำดับงาน เป้าหมายของ </a:t>
            </a:r>
            <a:r>
              <a:rPr lang="en-US"/>
              <a:t>MVP </a:t>
            </a:r>
            <a:r>
              <a:rPr lang="th-TH"/>
              <a:t>คือให้เส้นทางตั้งแต่แจ้งปัญหาจนงานเสร็จใช้งานได้จริง</a:t>
            </a:r>
          </a:p>
          <a:p>
            <a:endParaRPr lang="th-TH"/>
          </a:p>
          <a:p>
            <a:r>
              <a:rPr lang="th-TH"/>
              <a:t>แหล่งข้อมูลโครงการ:</a:t>
            </a:r>
          </a:p>
          <a:p>
            <a:r>
              <a:rPr lang="en-US"/>
              <a:t>README.md; docs/ticketcenter-flows.md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B769FD-8EDF-407A-90C5-141C7E604FE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8490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h-TH"/>
              <a:t>เวลาแนะนำ: 60 วินาที</a:t>
            </a:r>
          </a:p>
          <a:p>
            <a:endParaRPr lang="th-TH"/>
          </a:p>
          <a:p>
            <a:r>
              <a:rPr lang="th-TH"/>
              <a:t>ระบบที่เดโมในวันนี้เปิดด้วย </a:t>
            </a:r>
            <a:r>
              <a:rPr lang="en-US"/>
              <a:t>Docker Compose </a:t>
            </a:r>
            <a:r>
              <a:rPr lang="th-TH"/>
              <a:t>บนเครื่อง มีบริการ </a:t>
            </a:r>
            <a:r>
              <a:rPr lang="en-US"/>
              <a:t>web, api </a:t>
            </a:r>
            <a:r>
              <a:rPr lang="th-TH"/>
              <a:t>และ </a:t>
            </a:r>
            <a:r>
              <a:rPr lang="en-US"/>
              <a:t>db </a:t>
            </a:r>
            <a:r>
              <a:rPr lang="th-TH"/>
              <a:t>โดย </a:t>
            </a:r>
            <a:r>
              <a:rPr lang="en-US"/>
              <a:t>React </a:t>
            </a:r>
            <a:r>
              <a:rPr lang="th-TH"/>
              <a:t>สร้างหน้าจอให้ผู้ใช้กดและดูข้อมูล </a:t>
            </a:r>
            <a:r>
              <a:rPr lang="en-US"/>
              <a:t>Vite </a:t>
            </a:r>
            <a:r>
              <a:rPr lang="th-TH"/>
              <a:t>เตรียมโค้ด </a:t>
            </a:r>
            <a:r>
              <a:rPr lang="en-US"/>
              <a:t>React </a:t>
            </a:r>
            <a:r>
              <a:rPr lang="th-TH"/>
              <a:t>เป็นไฟล์เว็บ </a:t>
            </a:r>
            <a:r>
              <a:rPr lang="en-US"/>
              <a:t>Nginx </a:t>
            </a:r>
            <a:r>
              <a:rPr lang="th-TH"/>
              <a:t>ส่งไฟล์เว็บให้ </a:t>
            </a:r>
            <a:r>
              <a:rPr lang="en-US"/>
              <a:t>Browser </a:t>
            </a:r>
            <a:r>
              <a:rPr lang="th-TH"/>
              <a:t>และรับคำขอที่ขึ้นต้นด้วย /</a:t>
            </a:r>
            <a:r>
              <a:rPr lang="en-US"/>
              <a:t>api </a:t>
            </a:r>
            <a:r>
              <a:rPr lang="th-TH"/>
              <a:t>เพื่อส่งต่อไป </a:t>
            </a:r>
            <a:r>
              <a:rPr lang="en-US"/>
              <a:t>FastAPI FastAPI </a:t>
            </a:r>
            <a:r>
              <a:rPr lang="th-TH"/>
              <a:t>ตรวจข้อมูล ตรวจสิทธิ์ และประมวลผลคำขอ </a:t>
            </a:r>
            <a:r>
              <a:rPr lang="en-US"/>
              <a:t>PostgreSQL </a:t>
            </a:r>
            <a:r>
              <a:rPr lang="th-TH"/>
              <a:t>เก็บข้อมูลจริงเป็นตาราง เช่น ผู้ใช้ </a:t>
            </a:r>
            <a:r>
              <a:rPr lang="en-US"/>
              <a:t>Ticket </a:t>
            </a:r>
            <a:r>
              <a:rPr lang="th-TH"/>
              <a:t>แชทและประวัติ ข้อมูลระหว่าง </a:t>
            </a:r>
            <a:r>
              <a:rPr lang="en-US"/>
              <a:t>Browser </a:t>
            </a:r>
            <a:r>
              <a:rPr lang="th-TH"/>
              <a:t>กับ </a:t>
            </a:r>
            <a:r>
              <a:rPr lang="en-US"/>
              <a:t>API </a:t>
            </a:r>
            <a:r>
              <a:rPr lang="th-TH"/>
              <a:t>อยู่ในรูปแบบ </a:t>
            </a:r>
            <a:r>
              <a:rPr lang="en-US"/>
              <a:t>JSON </a:t>
            </a:r>
            <a:r>
              <a:rPr lang="th-TH"/>
              <a:t>ส่วน </a:t>
            </a:r>
            <a:r>
              <a:rPr lang="en-US"/>
              <a:t>Docker Compose </a:t>
            </a:r>
            <a:r>
              <a:rPr lang="th-TH"/>
              <a:t>ช่วยให้เราเปิดทั้งสามบริการพร้อมกันได้ </a:t>
            </a:r>
            <a:r>
              <a:rPr lang="en-US"/>
              <a:t>SQLAlchemy </a:t>
            </a:r>
            <a:r>
              <a:rPr lang="th-TH"/>
              <a:t>ช่วยโค้ด </a:t>
            </a:r>
            <a:r>
              <a:rPr lang="en-US"/>
              <a:t>Python </a:t>
            </a:r>
            <a:r>
              <a:rPr lang="th-TH"/>
              <a:t>ติดต่อฐานข้อมูล และ </a:t>
            </a:r>
            <a:r>
              <a:rPr lang="en-US"/>
              <a:t>Alembic </a:t>
            </a:r>
            <a:r>
              <a:rPr lang="th-TH"/>
              <a:t>จัดการการเปลี่ยนโครงสร้างตารางตามเวอร์ชัน</a:t>
            </a:r>
          </a:p>
          <a:p>
            <a:endParaRPr lang="th-TH"/>
          </a:p>
          <a:p>
            <a:r>
              <a:rPr lang="th-TH"/>
              <a:t>แหล่งข้อมูลโครงการ:</a:t>
            </a:r>
          </a:p>
          <a:p>
            <a:r>
              <a:rPr lang="en-US"/>
              <a:t>compose.yaml; frontend/Dockerfile; frontend/nginx.conf; backend/app/main.py; backend/app/models.py; backend/alembic/versions/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B769FD-8EDF-407A-90C5-141C7E604FE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71430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h-TH"/>
              <a:t>เวลาแนะนำ: 50 วินาที</a:t>
            </a:r>
          </a:p>
          <a:p>
            <a:endParaRPr lang="th-TH"/>
          </a:p>
          <a:p>
            <a:r>
              <a:rPr lang="th-TH"/>
              <a:t>ภาพนี้ใช้ผล </a:t>
            </a:r>
            <a:r>
              <a:rPr lang="en-US"/>
              <a:t>docker compose ps </a:t>
            </a:r>
            <a:r>
              <a:rPr lang="th-TH"/>
              <a:t>เพื่อตรวจว่ามี </a:t>
            </a:r>
            <a:r>
              <a:rPr lang="en-US"/>
              <a:t>web, api </a:t>
            </a:r>
            <a:r>
              <a:rPr lang="th-TH"/>
              <a:t>และ </a:t>
            </a:r>
            <a:r>
              <a:rPr lang="en-US"/>
              <a:t>db </a:t>
            </a:r>
            <a:r>
              <a:rPr lang="th-TH"/>
              <a:t>กำลังรัน เราเปิดพอร์ตออกจาก </a:t>
            </a:r>
            <a:r>
              <a:rPr lang="en-US"/>
              <a:t>Compose </a:t>
            </a:r>
            <a:r>
              <a:rPr lang="th-TH"/>
              <a:t>เฉพาะ </a:t>
            </a:r>
            <a:r>
              <a:rPr lang="en-US"/>
              <a:t>web </a:t>
            </a:r>
            <a:r>
              <a:rPr lang="th-TH"/>
              <a:t>ที่ 443 และ 80 โดย </a:t>
            </a:r>
            <a:r>
              <a:rPr lang="en-US"/>
              <a:t>Nginx redirect </a:t>
            </a:r>
            <a:r>
              <a:rPr lang="th-TH"/>
              <a:t>จาก 80 ไป </a:t>
            </a:r>
            <a:r>
              <a:rPr lang="en-US"/>
              <a:t>HTTPS API </a:t>
            </a:r>
            <a:r>
              <a:rPr lang="th-TH"/>
              <a:t>ใช้พอร์ต 8000 ภายใน </a:t>
            </a:r>
            <a:r>
              <a:rPr lang="en-US"/>
              <a:t>Docker network </a:t>
            </a:r>
            <a:r>
              <a:rPr lang="th-TH"/>
              <a:t>และฐานข้อมูลใช้ 5432 ภายใน </a:t>
            </a:r>
            <a:r>
              <a:rPr lang="en-US"/>
              <a:t>network </a:t>
            </a:r>
            <a:r>
              <a:rPr lang="th-TH"/>
              <a:t>ข้อมูล </a:t>
            </a:r>
            <a:r>
              <a:rPr lang="en-US"/>
              <a:t>PostgreSQL </a:t>
            </a:r>
            <a:r>
              <a:rPr lang="th-TH"/>
              <a:t>เก็บใน </a:t>
            </a:r>
            <a:r>
              <a:rPr lang="en-US"/>
              <a:t>volume pgdata </a:t>
            </a:r>
            <a:r>
              <a:rPr lang="th-TH"/>
              <a:t>เพื่อให้ข้อมูลยังอยู่หลัง </a:t>
            </a:r>
            <a:r>
              <a:rPr lang="en-US"/>
              <a:t>restart container Migration </a:t>
            </a:r>
            <a:r>
              <a:rPr lang="th-TH"/>
              <a:t>เตรียมตารางก่อนเริ่ม </a:t>
            </a:r>
            <a:r>
              <a:rPr lang="en-US"/>
              <a:t>API Docker network </a:t>
            </a:r>
            <a:r>
              <a:rPr lang="th-TH"/>
              <a:t>นี้ใช้พัฒนาและเดโมบนเครื่อง ยังไม่ใช่หลักฐานว่ามี </a:t>
            </a:r>
            <a:r>
              <a:rPr lang="en-US"/>
              <a:t>public/private subnet </a:t>
            </a:r>
            <a:r>
              <a:rPr lang="th-TH"/>
              <a:t>จริงบน </a:t>
            </a:r>
            <a:r>
              <a:rPr lang="en-US"/>
              <a:t>AWS </a:t>
            </a:r>
            <a:r>
              <a:rPr lang="th-TH"/>
              <a:t>ส่วน </a:t>
            </a:r>
            <a:r>
              <a:rPr lang="en-US"/>
              <a:t>AWS </a:t>
            </a:r>
            <a:r>
              <a:rPr lang="th-TH"/>
              <a:t>มี </a:t>
            </a:r>
            <a:r>
              <a:rPr lang="en-US"/>
              <a:t>Terraform </a:t>
            </a:r>
            <a:r>
              <a:rPr lang="th-TH"/>
              <a:t>เตรียมไว้แต่ยังไม่ได้ </a:t>
            </a:r>
            <a:r>
              <a:rPr lang="en-US"/>
              <a:t>deploy</a:t>
            </a:r>
          </a:p>
          <a:p>
            <a:endParaRPr lang="en-US"/>
          </a:p>
          <a:p>
            <a:r>
              <a:rPr lang="th-TH"/>
              <a:t>แหล่งข้อมูลโครงการ:</a:t>
            </a:r>
          </a:p>
          <a:p>
            <a:r>
              <a:rPr lang="en-US"/>
              <a:t>compose.yaml; frontend/nginx.conf; backend/start.sh; infra/aws/main.tf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B769FD-8EDF-407A-90C5-141C7E604FE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0738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h-TH"/>
              <a:t>เวลาแนะนำ: 60 วินาที</a:t>
            </a:r>
          </a:p>
          <a:p>
            <a:endParaRPr lang="th-TH"/>
          </a:p>
          <a:p>
            <a:r>
              <a:rPr lang="en-US"/>
              <a:t>Security </a:t>
            </a:r>
            <a:r>
              <a:rPr lang="th-TH"/>
              <a:t>ของเรามีทั้งการยืนยันตัวตนและการตรวจสิทธิ์ เมื่อ </a:t>
            </a:r>
            <a:r>
              <a:rPr lang="en-US"/>
              <a:t>Login Backend </a:t>
            </a:r>
            <a:r>
              <a:rPr lang="th-TH"/>
              <a:t>ตรวจ </a:t>
            </a:r>
            <a:r>
              <a:rPr lang="en-US"/>
              <a:t>password hash </a:t>
            </a:r>
            <a:r>
              <a:rPr lang="th-TH"/>
              <a:t>แล้วส่ง </a:t>
            </a:r>
            <a:r>
              <a:rPr lang="en-US"/>
              <a:t>JWT token </a:t>
            </a:r>
            <a:r>
              <a:rPr lang="th-TH"/>
              <a:t>อายุ 8 ชั่วโมงให้หน้าเว็บ การขอข้อมูลหรือแก้ไขข้อมูลต้องแนบ </a:t>
            </a:r>
            <a:r>
              <a:rPr lang="en-US"/>
              <a:t>token </a:t>
            </a:r>
            <a:r>
              <a:rPr lang="th-TH"/>
              <a:t>และ </a:t>
            </a:r>
            <a:r>
              <a:rPr lang="en-US"/>
              <a:t>Backend </a:t>
            </a:r>
            <a:r>
              <a:rPr lang="th-TH"/>
              <a:t>ตรวจผู้ใช้จากฐานข้อมูล </a:t>
            </a:r>
            <a:r>
              <a:rPr lang="en-US"/>
              <a:t>Employee </a:t>
            </a:r>
            <a:r>
              <a:rPr lang="th-TH"/>
              <a:t>เห็นและสร้างเฉพาะ </a:t>
            </a:r>
            <a:r>
              <a:rPr lang="en-US"/>
              <a:t>Ticket </a:t>
            </a:r>
            <a:r>
              <a:rPr lang="th-TH"/>
              <a:t>ของตัวเอง </a:t>
            </a:r>
            <a:r>
              <a:rPr lang="en-US"/>
              <a:t>Agent </a:t>
            </a:r>
            <a:r>
              <a:rPr lang="th-TH"/>
              <a:t>จัดการเฉพาะคิวฝ่ายของตน และ </a:t>
            </a:r>
            <a:r>
              <a:rPr lang="en-US"/>
              <a:t>Admin </a:t>
            </a:r>
            <a:r>
              <a:rPr lang="th-TH"/>
              <a:t>เห็นทุกฝ่าย </a:t>
            </a:r>
            <a:r>
              <a:rPr lang="en-US"/>
              <a:t>Backend </a:t>
            </a:r>
            <a:r>
              <a:rPr lang="th-TH"/>
              <a:t>ตรวจหมวด </a:t>
            </a:r>
            <a:r>
              <a:rPr lang="en-US"/>
              <a:t>IT </a:t>
            </a:r>
            <a:r>
              <a:rPr lang="th-TH"/>
              <a:t>หรือ </a:t>
            </a:r>
            <a:r>
              <a:rPr lang="en-US"/>
              <a:t>HR </a:t>
            </a:r>
            <a:r>
              <a:rPr lang="th-TH"/>
              <a:t>เอง กำหนดคิวตามหมวด และบังคับสถานะให้เดินจาก </a:t>
            </a:r>
            <a:r>
              <a:rPr lang="en-US"/>
              <a:t>Open </a:t>
            </a:r>
            <a:r>
              <a:rPr lang="th-TH"/>
              <a:t>ไป </a:t>
            </a:r>
            <a:r>
              <a:rPr lang="en-US"/>
              <a:t>In Progress </a:t>
            </a:r>
            <a:r>
              <a:rPr lang="th-TH"/>
              <a:t>แล้วจึง </a:t>
            </a:r>
            <a:r>
              <a:rPr lang="en-US"/>
              <a:t>Done Secret </a:t>
            </a:r>
            <a:r>
              <a:rPr lang="th-TH"/>
              <a:t>อยู่ใน </a:t>
            </a:r>
            <a:r>
              <a:rPr lang="en-US"/>
              <a:t>environment variables </a:t>
            </a:r>
            <a:r>
              <a:rPr lang="th-TH"/>
              <a:t>และ .</a:t>
            </a:r>
            <a:r>
              <a:rPr lang="en-US"/>
              <a:t>env </a:t>
            </a:r>
            <a:r>
              <a:rPr lang="th-TH"/>
              <a:t>ไม่อยู่ใน </a:t>
            </a:r>
            <a:r>
              <a:rPr lang="en-US"/>
              <a:t>Git </a:t>
            </a:r>
            <a:r>
              <a:rPr lang="th-TH"/>
              <a:t>สำหรับเดโม </a:t>
            </a:r>
            <a:r>
              <a:rPr lang="en-US"/>
              <a:t>HTTPS </a:t>
            </a:r>
            <a:r>
              <a:rPr lang="th-TH"/>
              <a:t>ใช้ </a:t>
            </a:r>
            <a:r>
              <a:rPr lang="en-US"/>
              <a:t>self-signed certificate </a:t>
            </a:r>
            <a:r>
              <a:rPr lang="th-TH"/>
              <a:t>จึงมีคำเตือน </a:t>
            </a:r>
            <a:r>
              <a:rPr lang="en-US"/>
              <a:t>Not secure </a:t>
            </a:r>
            <a:r>
              <a:rPr lang="th-TH"/>
              <a:t>ใน </a:t>
            </a:r>
            <a:r>
              <a:rPr lang="en-US"/>
              <a:t>Browser </a:t>
            </a:r>
            <a:r>
              <a:rPr lang="th-TH"/>
              <a:t>ถ้านำขึ้น </a:t>
            </a:r>
            <a:r>
              <a:rPr lang="en-US"/>
              <a:t>AWS </a:t>
            </a:r>
            <a:r>
              <a:rPr lang="th-TH"/>
              <a:t>แบบที่เตรียมไว้จะใช้ </a:t>
            </a:r>
            <a:r>
              <a:rPr lang="en-US"/>
              <a:t>ACM certificate </a:t>
            </a:r>
            <a:r>
              <a:rPr lang="th-TH"/>
              <a:t>กับ </a:t>
            </a:r>
            <a:r>
              <a:rPr lang="en-US"/>
              <a:t>hostname </a:t>
            </a:r>
            <a:r>
              <a:rPr lang="th-TH"/>
              <a:t>จริง</a:t>
            </a:r>
          </a:p>
          <a:p>
            <a:endParaRPr lang="th-TH"/>
          </a:p>
          <a:p>
            <a:r>
              <a:rPr lang="th-TH"/>
              <a:t>แหล่งข้อมูลโครงการ:</a:t>
            </a:r>
          </a:p>
          <a:p>
            <a:r>
              <a:rPr lang="en-US"/>
              <a:t>backend/app/auth.py; backend/app/main.py; frontend/nginx.conf; .gitignore; infra/aws/main.tf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B769FD-8EDF-407A-90C5-141C7E604FE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9759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h-TH"/>
              <a:t>เวลาแนะนำ: 30 วินาที</a:t>
            </a:r>
          </a:p>
          <a:p>
            <a:endParaRPr lang="th-TH"/>
          </a:p>
          <a:p>
            <a:r>
              <a:rPr lang="th-TH"/>
              <a:t>หน้าแรกให้ผู้ใช้กรอกอีเมลและรหัสผ่าน ระบบไม่ได้ให้ผู้ใช้เลือกเองว่าจะเป็น </a:t>
            </a:r>
            <a:r>
              <a:rPr lang="en-US"/>
              <a:t>Admin </a:t>
            </a:r>
            <a:r>
              <a:rPr lang="th-TH"/>
              <a:t>หรือ </a:t>
            </a:r>
            <a:r>
              <a:rPr lang="en-US"/>
              <a:t>Agent </a:t>
            </a:r>
            <a:r>
              <a:rPr lang="th-TH"/>
              <a:t>แต่ </a:t>
            </a:r>
            <a:r>
              <a:rPr lang="en-US"/>
              <a:t>Backend </a:t>
            </a:r>
            <a:r>
              <a:rPr lang="th-TH"/>
              <a:t>อ่านบทบาทและฝ่ายจากบัญชีที่เก็บไว้ในฐานข้อมูล แล้วแสดงกล่องงานตามสิทธิ์ มีตัวบอกว่า </a:t>
            </a:r>
            <a:r>
              <a:rPr lang="en-US"/>
              <a:t>API </a:t>
            </a:r>
            <a:r>
              <a:rPr lang="th-TH"/>
              <a:t>พร้อมใช้งานหรือไม่ หลัง </a:t>
            </a:r>
            <a:r>
              <a:rPr lang="en-US"/>
              <a:t>Login token </a:t>
            </a:r>
            <a:r>
              <a:rPr lang="th-TH"/>
              <a:t>อยู่ในหน่วยความจำของหน้าเว็บ ถ้า </a:t>
            </a:r>
            <a:r>
              <a:rPr lang="en-US"/>
              <a:t>refresh </a:t>
            </a:r>
            <a:r>
              <a:rPr lang="th-TH"/>
              <a:t>หน้า </a:t>
            </a:r>
            <a:r>
              <a:rPr lang="en-US"/>
              <a:t>Browser </a:t>
            </a:r>
            <a:r>
              <a:rPr lang="th-TH"/>
              <a:t>ต้อง </a:t>
            </a:r>
            <a:r>
              <a:rPr lang="en-US"/>
              <a:t>Login </a:t>
            </a:r>
            <a:r>
              <a:rPr lang="th-TH"/>
              <a:t>ใหม่ใน </a:t>
            </a:r>
            <a:r>
              <a:rPr lang="en-US"/>
              <a:t>MVP </a:t>
            </a:r>
            <a:r>
              <a:rPr lang="th-TH"/>
              <a:t>นี้</a:t>
            </a:r>
          </a:p>
          <a:p>
            <a:endParaRPr lang="th-TH"/>
          </a:p>
          <a:p>
            <a:r>
              <a:rPr lang="th-TH"/>
              <a:t>แหล่งข้อมูลโครงการ:</a:t>
            </a:r>
          </a:p>
          <a:p>
            <a:r>
              <a:rPr lang="en-US"/>
              <a:t>frontend/src/main.jsx; backend/app/auth.py; backend/app/main.py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B769FD-8EDF-407A-90C5-141C7E604FE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8105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h-TH"/>
              <a:t>เวลาแนะนำ: 50 วินาที</a:t>
            </a:r>
          </a:p>
          <a:p>
            <a:endParaRPr lang="th-TH"/>
          </a:p>
          <a:p>
            <a:r>
              <a:rPr lang="th-TH"/>
              <a:t>เมื่อ </a:t>
            </a:r>
            <a:r>
              <a:rPr lang="en-US"/>
              <a:t>Employee Login </a:t>
            </a:r>
            <a:r>
              <a:rPr lang="th-TH"/>
              <a:t>ระบบแสดงเฉพาะคำขอที่พนักงานคนนั้นสร้างไว้ มีตัวเลขจำนวนทั้งหมด รอดำเนินการ กำลังดำเนินการ และเสร็จแล้ว ผู้ใช้ค้นด้วยเลข </a:t>
            </a:r>
            <a:r>
              <a:rPr lang="en-US"/>
              <a:t>Ticket </a:t>
            </a:r>
            <a:r>
              <a:rPr lang="th-TH"/>
              <a:t>หัวข้อหรือรายละเอียด และกรองตามสถานะได้ รายการแสดงฝ่าย สถานะ ความเร่งด่วนและอายุงาน โดยงานใหม่อยู่ก่อน คลิก </a:t>
            </a:r>
            <a:r>
              <a:rPr lang="en-US"/>
              <a:t>Ticket </a:t>
            </a:r>
            <a:r>
              <a:rPr lang="th-TH"/>
              <a:t>เพื่อดูรายละเอียดทางขวา และกดแจ้งคำขอใหม่เพื่อเปิดฟอร์ม ตัวเลขข้อความใหม่บนรายการช่วยบอกว่ามีคำตอบที่ยังไม่อ่าน โดยรายการที่ส่งมาจาก </a:t>
            </a:r>
            <a:r>
              <a:rPr lang="en-US"/>
              <a:t>Backend </a:t>
            </a:r>
            <a:r>
              <a:rPr lang="th-TH"/>
              <a:t>ผ่านการจำกัดสิทธิ์ไว้แล้ว</a:t>
            </a:r>
          </a:p>
          <a:p>
            <a:endParaRPr lang="th-TH"/>
          </a:p>
          <a:p>
            <a:r>
              <a:rPr lang="th-TH"/>
              <a:t>แหล่งข้อมูลโครงการ:</a:t>
            </a:r>
          </a:p>
          <a:p>
            <a:r>
              <a:rPr lang="en-US"/>
              <a:t>frontend/src/main.jsx; backend/app/main.py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B769FD-8EDF-407A-90C5-141C7E604FE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98294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h-TH"/>
              <a:t>เวลาแนะนำ: 60 วินาที</a:t>
            </a:r>
          </a:p>
          <a:p>
            <a:endParaRPr lang="th-TH"/>
          </a:p>
          <a:p>
            <a:r>
              <a:rPr lang="th-TH"/>
              <a:t>ตัวอย่างเดโมให้เลือกหมวด </a:t>
            </a:r>
            <a:r>
              <a:rPr lang="en-US"/>
              <a:t>IT </a:t>
            </a:r>
            <a:r>
              <a:rPr lang="th-TH"/>
              <a:t>หัวข้อเปิดคอมพิวเตอร์ไม่ได้ ผลกระทบคือพนักงานบัญชีทำงานต่อไม่ได้ และเพิ่มรายละเอียดของปัญหา เมื่อกดส่ง </a:t>
            </a:r>
            <a:r>
              <a:rPr lang="en-US"/>
              <a:t>Frontend </a:t>
            </a:r>
            <a:r>
              <a:rPr lang="th-TH"/>
              <a:t>ส่งข้อมูลให้ </a:t>
            </a:r>
            <a:r>
              <a:rPr lang="en-US"/>
              <a:t>FastAPI Backend </a:t>
            </a:r>
            <a:r>
              <a:rPr lang="th-TH"/>
              <a:t>ตรวจว่าผู้ใช้เป็น </a:t>
            </a:r>
            <a:r>
              <a:rPr lang="en-US"/>
              <a:t>Employee </a:t>
            </a:r>
            <a:r>
              <a:rPr lang="th-TH"/>
              <a:t>และหมวดอยู่ใน </a:t>
            </a:r>
            <a:r>
              <a:rPr lang="en-US"/>
              <a:t>IT </a:t>
            </a:r>
            <a:r>
              <a:rPr lang="th-TH"/>
              <a:t>หรือ </a:t>
            </a:r>
            <a:r>
              <a:rPr lang="en-US"/>
              <a:t>HR </a:t>
            </a:r>
            <a:r>
              <a:rPr lang="th-TH"/>
              <a:t>แล้วกำหนดคิวจากหมวดเอง ผู้ใช้เปลี่ยนคิวโดยส่ง </a:t>
            </a:r>
            <a:r>
              <a:rPr lang="en-US"/>
              <a:t>department </a:t>
            </a:r>
            <a:r>
              <a:rPr lang="th-TH"/>
              <a:t>ปลอมไม่ได้ งานเริ่มเป็น </a:t>
            </a:r>
            <a:r>
              <a:rPr lang="en-US"/>
              <a:t>Open </a:t>
            </a:r>
            <a:r>
              <a:rPr lang="th-TH"/>
              <a:t>และ </a:t>
            </a:r>
            <a:r>
              <a:rPr lang="en-US"/>
              <a:t>Normal </a:t>
            </a:r>
            <a:r>
              <a:rPr lang="th-TH"/>
              <a:t>เสมอ พนักงานส่งผลกระทบให้เจ้าหน้าที่ใช้ประเมินความเร่งด่วน </a:t>
            </a:r>
            <a:r>
              <a:rPr lang="en-US"/>
              <a:t>Backend </a:t>
            </a:r>
            <a:r>
              <a:rPr lang="th-TH"/>
              <a:t>ไม่รับ </a:t>
            </a:r>
            <a:r>
              <a:rPr lang="en-US"/>
              <a:t>priority </a:t>
            </a:r>
            <a:r>
              <a:rPr lang="th-TH"/>
              <a:t>จากผู้แจ้ง จากนั้นบันทึก </a:t>
            </a:r>
            <a:r>
              <a:rPr lang="en-US"/>
              <a:t>Ticket </a:t>
            </a:r>
            <a:r>
              <a:rPr lang="th-TH"/>
              <a:t>และประวัติการสร้างใน </a:t>
            </a:r>
            <a:r>
              <a:rPr lang="en-US"/>
              <a:t>PostgreSQL </a:t>
            </a:r>
            <a:r>
              <a:rPr lang="th-TH"/>
              <a:t>แล้วส่งผลกลับมาให้หน้าเว็บ</a:t>
            </a:r>
          </a:p>
          <a:p>
            <a:endParaRPr lang="th-TH"/>
          </a:p>
          <a:p>
            <a:r>
              <a:rPr lang="th-TH"/>
              <a:t>แหล่งข้อมูลโครงการ:</a:t>
            </a:r>
          </a:p>
          <a:p>
            <a:r>
              <a:rPr lang="en-US"/>
              <a:t>frontend/src/main.jsx; backend/app/main.py:32-43,123-133; backend/app/models.py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B769FD-8EDF-407A-90C5-141C7E604FE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7596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h-TH"/>
              <a:t>เวลาแนะนำ: 70 วินาที</a:t>
            </a:r>
          </a:p>
          <a:p>
            <a:endParaRPr lang="th-TH"/>
          </a:p>
          <a:p>
            <a:r>
              <a:rPr lang="th-TH"/>
              <a:t>เมื่อเจ้าหน้าที่ </a:t>
            </a:r>
            <a:r>
              <a:rPr lang="en-US"/>
              <a:t>IT Login </a:t>
            </a:r>
            <a:r>
              <a:rPr lang="th-TH"/>
              <a:t>ชื่อหน้าจะแสดงฝ่ายเทคโนโลยีสารสนเทศเต็ม ๆ และมีเฉพาะงาน </a:t>
            </a:r>
            <a:r>
              <a:rPr lang="en-US"/>
              <a:t>IT </a:t>
            </a:r>
            <a:r>
              <a:rPr lang="th-TH"/>
              <a:t>เจ้าหน้าที่ </a:t>
            </a:r>
            <a:r>
              <a:rPr lang="en-US"/>
              <a:t>HR </a:t>
            </a:r>
            <a:r>
              <a:rPr lang="th-TH"/>
              <a:t>ก็เห็นเฉพาะฝ่ายทรัพยากรบุคคล </a:t>
            </a:r>
            <a:r>
              <a:rPr lang="en-US"/>
              <a:t>Agent </a:t>
            </a:r>
            <a:r>
              <a:rPr lang="th-TH"/>
              <a:t>อ่านผลกระทบแล้วเลือกระดับ </a:t>
            </a:r>
            <a:r>
              <a:rPr lang="en-US"/>
              <a:t>Normal </a:t>
            </a:r>
            <a:r>
              <a:rPr lang="th-TH"/>
              <a:t>หรือ </a:t>
            </a:r>
            <a:r>
              <a:rPr lang="en-US"/>
              <a:t>Urgent </a:t>
            </a:r>
            <a:r>
              <a:rPr lang="th-TH"/>
              <a:t>คิวแสดงงานเร่งด่วนก่อนและงานเก่าก่อนในระดับเดียวกัน ปุ่มรับงานขึ้นหน้าต่างยืนยัน แล้วเปลี่ยนจาก </a:t>
            </a:r>
            <a:r>
              <a:rPr lang="en-US"/>
              <a:t>Open </a:t>
            </a:r>
            <a:r>
              <a:rPr lang="th-TH"/>
              <a:t>เป็น </a:t>
            </a:r>
            <a:r>
              <a:rPr lang="en-US"/>
              <a:t>In Progress </a:t>
            </a:r>
            <a:r>
              <a:rPr lang="th-TH"/>
              <a:t>เมื่อแก้ไขเสร็จกดทำเครื่องหมายว่าเสร็จแล้วและยืนยันเพื่อเปลี่ยนเป็น </a:t>
            </a:r>
            <a:r>
              <a:rPr lang="en-US"/>
              <a:t>Done Backend </a:t>
            </a:r>
            <a:r>
              <a:rPr lang="th-TH"/>
              <a:t>บังคับตามลำดับและบันทึกผู้เปลี่ยนกับเวลา ทั้งสถานะและความเร่งด่วน นอกจากนี้ </a:t>
            </a:r>
            <a:r>
              <a:rPr lang="en-US"/>
              <a:t>API </a:t>
            </a:r>
            <a:r>
              <a:rPr lang="th-TH"/>
              <a:t>ไม่ยอมให้ </a:t>
            </a:r>
            <a:r>
              <a:rPr lang="en-US"/>
              <a:t>Agent </a:t>
            </a:r>
            <a:r>
              <a:rPr lang="th-TH"/>
              <a:t>ข้ามไปจัดการ </a:t>
            </a:r>
            <a:r>
              <a:rPr lang="en-US"/>
              <a:t>Ticket </a:t>
            </a:r>
            <a:r>
              <a:rPr lang="th-TH"/>
              <a:t>อีกฝ่าย งานใน </a:t>
            </a:r>
            <a:r>
              <a:rPr lang="en-US"/>
              <a:t>MVP </a:t>
            </a:r>
            <a:r>
              <a:rPr lang="th-TH"/>
              <a:t>นี้เข้าคิวของฝ่าย ยังไม่มีการมอบหมายให้ </a:t>
            </a:r>
            <a:r>
              <a:rPr lang="en-US"/>
              <a:t>Agent </a:t>
            </a:r>
            <a:r>
              <a:rPr lang="th-TH"/>
              <a:t>รายบุคคล</a:t>
            </a:r>
          </a:p>
          <a:p>
            <a:endParaRPr lang="th-TH"/>
          </a:p>
          <a:p>
            <a:r>
              <a:rPr lang="th-TH"/>
              <a:t>แหล่งข้อมูลโครงการ:</a:t>
            </a:r>
          </a:p>
          <a:p>
            <a:r>
              <a:rPr lang="en-US"/>
              <a:t>frontend/src/main.jsx; backend/app/main.py:95-102,207-232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B769FD-8EDF-407A-90C5-141C7E604FE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24389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h-TH"/>
              <a:t>เวลาแนะนำ: 60 วินาที</a:t>
            </a:r>
          </a:p>
          <a:p>
            <a:endParaRPr lang="th-TH"/>
          </a:p>
          <a:p>
            <a:r>
              <a:rPr lang="th-TH"/>
              <a:t>ภายใน </a:t>
            </a:r>
            <a:r>
              <a:rPr lang="en-US"/>
              <a:t>Ticket </a:t>
            </a:r>
            <a:r>
              <a:rPr lang="th-TH"/>
              <a:t>ผู้แจ้งกับเจ้าหน้าที่ในฝ่ายที่รับผิดชอบส่งข้อความเกี่ยวกับปัญหานี้ได้ ข้อความที่เราส่งอยู่ขวา อีกฝ่ายอยู่ซ้าย กด </a:t>
            </a:r>
            <a:r>
              <a:rPr lang="en-US"/>
              <a:t>Enter </a:t>
            </a:r>
            <a:r>
              <a:rPr lang="th-TH"/>
              <a:t>ส่งข้อความและ </a:t>
            </a:r>
            <a:r>
              <a:rPr lang="en-US"/>
              <a:t>Shift Enter </a:t>
            </a:r>
            <a:r>
              <a:rPr lang="th-TH"/>
              <a:t>ขึ้นบรรทัดใหม่ ระบบเก็บข้อความใน </a:t>
            </a:r>
            <a:r>
              <a:rPr lang="en-US"/>
              <a:t>PostgreSQL </a:t>
            </a:r>
            <a:r>
              <a:rPr lang="th-TH"/>
              <a:t>และจำว่าผู้ใช้แต่ละคนอ่านถึงข้อความใด ตัวเลขบนรายการนับเฉพาะข้อความจากคนอื่นที่ยังไม่อ่าน ข้อความและตัวเลขอัปเดตโดย </a:t>
            </a:r>
            <a:r>
              <a:rPr lang="en-US"/>
              <a:t>polling </a:t>
            </a:r>
            <a:r>
              <a:rPr lang="th-TH"/>
              <a:t>ประมาณทุก 8 วินาที เป็นการให้หน้าเว็บถาม </a:t>
            </a:r>
            <a:r>
              <a:rPr lang="en-US"/>
              <a:t>API </a:t>
            </a:r>
            <a:r>
              <a:rPr lang="th-TH"/>
              <a:t>เป็นระยะ ส่วน </a:t>
            </a:r>
            <a:r>
              <a:rPr lang="en-US"/>
              <a:t>Timeline </a:t>
            </a:r>
            <a:r>
              <a:rPr lang="th-TH"/>
              <a:t>แสดงประวัติสร้าง </a:t>
            </a:r>
            <a:r>
              <a:rPr lang="en-US"/>
              <a:t>Ticket </a:t>
            </a:r>
            <a:r>
              <a:rPr lang="th-TH"/>
              <a:t>เปลี่ยนสถานะ และเปลี่ยนความเร่งด่วน พร้อมผู้ทำและเวลา ผู้มีสิทธิ์เข้าถึง </a:t>
            </a:r>
            <a:r>
              <a:rPr lang="en-US"/>
              <a:t>Ticket </a:t>
            </a:r>
            <a:r>
              <a:rPr lang="th-TH"/>
              <a:t>เท่านั้นที่อ่านหรือส่งข้อความได้</a:t>
            </a:r>
          </a:p>
          <a:p>
            <a:endParaRPr lang="th-TH"/>
          </a:p>
          <a:p>
            <a:r>
              <a:rPr lang="th-TH"/>
              <a:t>แหล่งข้อมูลโครงการ:</a:t>
            </a:r>
          </a:p>
          <a:p>
            <a:r>
              <a:rPr lang="en-US"/>
              <a:t>frontend/src/main.jsx; backend/app/main.py:148-205; backend/app/models.py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B769FD-8EDF-407A-90C5-141C7E604FE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22393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h-TH"/>
              <a:t>เวลาแนะนำ: 40 วินาที</a:t>
            </a:r>
          </a:p>
          <a:p>
            <a:endParaRPr lang="th-TH"/>
          </a:p>
          <a:p>
            <a:r>
              <a:rPr lang="en-US"/>
              <a:t>Admin </a:t>
            </a:r>
            <a:r>
              <a:rPr lang="th-TH"/>
              <a:t>เห็นภาพรวม </a:t>
            </a:r>
            <a:r>
              <a:rPr lang="en-US"/>
              <a:t>Ticket </a:t>
            </a:r>
            <a:r>
              <a:rPr lang="th-TH"/>
              <a:t>ของทุกฝ่าย เลือกกรอง </a:t>
            </a:r>
            <a:r>
              <a:rPr lang="en-US"/>
              <a:t>IT </a:t>
            </a:r>
            <a:r>
              <a:rPr lang="th-TH"/>
              <a:t>หรือ </a:t>
            </a:r>
            <a:r>
              <a:rPr lang="en-US"/>
              <a:t>HR </a:t>
            </a:r>
            <a:r>
              <a:rPr lang="th-TH"/>
              <a:t>ได้และเห็นจำนวนงานแต่ละฝ่าย </a:t>
            </a:r>
            <a:r>
              <a:rPr lang="en-US"/>
              <a:t>Admin </a:t>
            </a:r>
            <a:r>
              <a:rPr lang="th-TH"/>
              <a:t>เปลี่ยนสถานะหรือความเร่งด่วนเพื่อช่วยจัดลำดับข้ามฝ่าย และอ่านบทสนทนาได้ตามสิทธิ์ของ </a:t>
            </a:r>
            <a:r>
              <a:rPr lang="en-US"/>
              <a:t>Ticket </a:t>
            </a:r>
            <a:r>
              <a:rPr lang="th-TH"/>
              <a:t>เหตุการณ์ที่ </a:t>
            </a:r>
            <a:r>
              <a:rPr lang="en-US"/>
              <a:t>Admin </a:t>
            </a:r>
            <a:r>
              <a:rPr lang="th-TH"/>
              <a:t>ปรับก็มีชื่อผู้กระทำในประวัติเช่นเดียวกับ </a:t>
            </a:r>
            <a:r>
              <a:rPr lang="en-US"/>
              <a:t>Agent </a:t>
            </a:r>
            <a:r>
              <a:rPr lang="th-TH"/>
              <a:t>ส่วนการจัดการบัญชีหรือรีเซ็ตรหัสผ่านยังเป็นงานสำหรับพัฒนาต่อ </a:t>
            </a:r>
            <a:r>
              <a:rPr lang="en-US"/>
              <a:t>Admin </a:t>
            </a:r>
            <a:r>
              <a:rPr lang="th-TH"/>
              <a:t>ใน </a:t>
            </a:r>
            <a:r>
              <a:rPr lang="en-US"/>
              <a:t>MVP </a:t>
            </a:r>
            <a:r>
              <a:rPr lang="th-TH"/>
              <a:t>นี้เน้นภาพรวมและการช่วยดูแลงานบริการ</a:t>
            </a:r>
          </a:p>
          <a:p>
            <a:endParaRPr lang="th-TH"/>
          </a:p>
          <a:p>
            <a:r>
              <a:rPr lang="th-TH"/>
              <a:t>แหล่งข้อมูลโครงการ:</a:t>
            </a:r>
          </a:p>
          <a:p>
            <a:r>
              <a:rPr lang="en-US"/>
              <a:t>frontend/src/main.jsx; backend/app/main.py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B769FD-8EDF-407A-90C5-141C7E604FE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25544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h-TH"/>
              <a:t>เวลาแนะนำ: 60 วินาที</a:t>
            </a:r>
          </a:p>
          <a:p>
            <a:endParaRPr lang="th-TH"/>
          </a:p>
          <a:p>
            <a:r>
              <a:rPr lang="th-TH"/>
              <a:t>เดโมหลักเริ่มจาก </a:t>
            </a:r>
            <a:r>
              <a:rPr lang="en-US"/>
              <a:t>Employee </a:t>
            </a:r>
            <a:r>
              <a:rPr lang="th-TH"/>
              <a:t>สร้าง </a:t>
            </a:r>
            <a:r>
              <a:rPr lang="en-US"/>
              <a:t>Ticket IT </a:t>
            </a:r>
            <a:r>
              <a:rPr lang="th-TH"/>
              <a:t>แล้ว </a:t>
            </a:r>
            <a:r>
              <a:rPr lang="en-US"/>
              <a:t>IT Agent </a:t>
            </a:r>
            <a:r>
              <a:rPr lang="th-TH"/>
              <a:t>เห็นในคิว ประเมินความเร่งด่วน รับงานและตอบข้อความ จากนั้น </a:t>
            </a:r>
            <a:r>
              <a:rPr lang="en-US"/>
              <a:t>Employee </a:t>
            </a:r>
            <a:r>
              <a:rPr lang="th-TH"/>
              <a:t>เห็นสถานะกับประวัติใหม่ และแสดงว่า </a:t>
            </a:r>
            <a:r>
              <a:rPr lang="en-US"/>
              <a:t>HR Agent </a:t>
            </a:r>
            <a:r>
              <a:rPr lang="th-TH"/>
              <a:t>ไม่เห็นงาน </a:t>
            </a:r>
            <a:r>
              <a:rPr lang="en-US"/>
              <a:t>IT </a:t>
            </a:r>
            <a:r>
              <a:rPr lang="th-TH"/>
              <a:t>ชุดทดสอบของ </a:t>
            </a:r>
            <a:r>
              <a:rPr lang="en-US"/>
              <a:t>Backend </a:t>
            </a:r>
            <a:r>
              <a:rPr lang="th-TH"/>
              <a:t>ครอบคลุมการสร้าง </a:t>
            </a:r>
            <a:r>
              <a:rPr lang="en-US"/>
              <a:t>Ticket </a:t>
            </a:r>
            <a:r>
              <a:rPr lang="th-TH"/>
              <a:t>การตรวจหมวดและคิว การจำกัดสิทธิ์ การเปลี่ยนสถานะ ความเร่งด่วน แชทและข้อความที่ยังไม่อ่าน ระบบปัจจุบันรันด้วย </a:t>
            </a:r>
            <a:r>
              <a:rPr lang="en-US"/>
              <a:t>Docker Compose </a:t>
            </a:r>
            <a:r>
              <a:rPr lang="th-TH"/>
              <a:t>และเก็บข้อมูลใน </a:t>
            </a:r>
            <a:r>
              <a:rPr lang="en-US"/>
              <a:t>PostgreSQL </a:t>
            </a:r>
            <a:r>
              <a:rPr lang="th-TH"/>
              <a:t>ส่วน </a:t>
            </a:r>
            <a:r>
              <a:rPr lang="en-US"/>
              <a:t>Terraform </a:t>
            </a:r>
            <a:r>
              <a:rPr lang="th-TH"/>
              <a:t>สำหรับ </a:t>
            </a:r>
            <a:r>
              <a:rPr lang="en-US"/>
              <a:t>AWS </a:t>
            </a:r>
            <a:r>
              <a:rPr lang="th-TH"/>
              <a:t>เตรียมไว้แต่ยังไม่ได้ </a:t>
            </a:r>
            <a:r>
              <a:rPr lang="en-US"/>
              <a:t>deploy </a:t>
            </a:r>
            <a:r>
              <a:rPr lang="th-TH"/>
              <a:t>และ </a:t>
            </a:r>
            <a:r>
              <a:rPr lang="en-US"/>
              <a:t>Compose </a:t>
            </a:r>
            <a:r>
              <a:rPr lang="th-TH"/>
              <a:t>ยังไม่ใช่หลักฐานของ </a:t>
            </a:r>
            <a:r>
              <a:rPr lang="en-US"/>
              <a:t>subnet </a:t>
            </a:r>
            <a:r>
              <a:rPr lang="th-TH"/>
              <a:t>บน </a:t>
            </a:r>
            <a:r>
              <a:rPr lang="en-US"/>
              <a:t>AWS </a:t>
            </a:r>
            <a:r>
              <a:rPr lang="th-TH"/>
              <a:t>งานต่อไปคือเตรียมบัญชี </a:t>
            </a:r>
            <a:r>
              <a:rPr lang="en-US"/>
              <a:t>AWS </a:t>
            </a:r>
            <a:r>
              <a:rPr lang="th-TH"/>
              <a:t>โดเมนและ </a:t>
            </a:r>
            <a:r>
              <a:rPr lang="en-US"/>
              <a:t>certificate </a:t>
            </a:r>
            <a:r>
              <a:rPr lang="th-TH"/>
              <a:t>แล้วตรวจ </a:t>
            </a:r>
            <a:r>
              <a:rPr lang="en-US"/>
              <a:t>Security Group </a:t>
            </a:r>
            <a:r>
              <a:rPr lang="th-TH"/>
              <a:t>และการเข้าถึง </a:t>
            </a:r>
            <a:r>
              <a:rPr lang="en-US"/>
              <a:t>API </a:t>
            </a:r>
            <a:r>
              <a:rPr lang="th-TH"/>
              <a:t>กับฐานข้อมูลจริงบนคลาวด์ ฟีเจอร์ต่อยอดได้แก่ไฟล์แนบ การมอบหมายเจ้าหน้าที่รายบุคคล และแจ้งเตือนแบบ </a:t>
            </a:r>
            <a:r>
              <a:rPr lang="en-US"/>
              <a:t>push </a:t>
            </a:r>
            <a:r>
              <a:rPr lang="th-TH"/>
              <a:t>ครับ</a:t>
            </a:r>
          </a:p>
          <a:p>
            <a:endParaRPr lang="th-TH"/>
          </a:p>
          <a:p>
            <a:r>
              <a:rPr lang="th-TH"/>
              <a:t>แหล่งข้อมูลโครงการ:</a:t>
            </a:r>
          </a:p>
          <a:p>
            <a:r>
              <a:rPr lang="en-US"/>
              <a:t>backend/tests/test_flow.py; README.md; infra/aws/main.tf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B769FD-8EDF-407A-90C5-141C7E604FEE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7013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07DB6D-7F4A-9117-5073-5D7F112DA0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F31A3C-1411-0ABF-9281-F67A594327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CED387-8EB2-2C56-7479-3FDD2F6307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69919-4D05-4CC0-B505-81598EF1437B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72D4D4-F4ED-F2DB-C22A-2B02E47C8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C15475-A5D2-2511-B712-EE9224A20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9AA3E-123B-4F36-88AA-85D9772B1B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6487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8BFF8-83B7-9A9E-4961-57EA46AED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F7E516-73A8-79F3-A68C-EC772930B5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C7C985-1FB9-0FEE-194D-8E25CBC33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69919-4D05-4CC0-B505-81598EF1437B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AF5989-6788-D37F-0880-96A3A0D4DB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297EF8-51F6-56C2-5D91-27D89256B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9AA3E-123B-4F36-88AA-85D9772B1B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8538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309176-5742-7496-FEE5-8D16042071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111CA5-E859-1533-8E98-8650DA4383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0FB8B6-8BBD-09CE-185C-C1F8467819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69919-4D05-4CC0-B505-81598EF1437B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1502B0-C877-2F07-98E8-5383C13DAC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A124-F29F-90E4-B843-D50ED21C6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9AA3E-123B-4F36-88AA-85D9772B1B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264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5E607-E914-332A-9BDE-E272464E4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994E6F-10A7-569A-0233-7889D1E162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2CE35D-FE40-5E7C-2E5D-03246219B8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378DA0-ACBC-72E6-0806-E9E2FD102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69919-4D05-4CC0-B505-81598EF1437B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719296-2269-0E25-0E6B-D118B1232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289902-FCDC-12BB-C29E-BB28EBB4F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9AA3E-123B-4F36-88AA-85D9772B1B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0413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0D4950-FF5E-16DF-8BB5-3A4C5CECD3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0FFC3A-475D-0AF8-896D-CA8F790408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76AE31-E93A-1F65-3AF4-24B43EB5B9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786FBF0-D154-767B-DC7E-9FCD9C5786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196165-42CC-DC3E-8858-37BA1FC13C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AB4C270-F0D7-3962-4572-CB98A2A1EE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69919-4D05-4CC0-B505-81598EF1437B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543586-457B-CA7F-2163-4999EE0EF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65E7EBF-659C-02B2-5297-D99BB1079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9AA3E-123B-4F36-88AA-85D9772B1B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1246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1B8A9-8664-E693-E824-BE2DE45FB8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F83912-21EC-8849-0BF8-D6B7C1B206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69919-4D05-4CC0-B505-81598EF1437B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09276A-BDD5-DA67-0FB1-9F795C435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800125-81AA-6340-096C-496E35E3A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9AA3E-123B-4F36-88AA-85D9772B1B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5821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D166CB1-8A63-9D73-2040-A38AE3F925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69919-4D05-4CC0-B505-81598EF1437B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BEE530-2E9D-9376-9520-6424E6F994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DF1C7F-8228-DAD6-E74D-C3378479E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9AA3E-123B-4F36-88AA-85D9772B1B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6865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2143D-9054-38AA-8627-06392909C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D6E5CC-A4BB-C50C-AAC9-E9E2402D83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5A2403-BEF9-C771-EBB9-130349DFB5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AEC452-7757-D910-0743-E96EAD5A0A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69919-4D05-4CC0-B505-81598EF1437B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065F8D-3993-F065-4A31-CF52FD966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6EB6E5-FD53-9172-450C-99F569C3E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9AA3E-123B-4F36-88AA-85D9772B1B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717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18832-E732-A0DB-DF73-174338FB11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099675D-6F68-267A-78E9-9F6C93168BB8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3E6A91-FD72-B212-6936-1E41247ADD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ED55C3-BC36-8247-0AC1-896520504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69919-4D05-4CC0-B505-81598EF1437B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5B1236-3ADD-DBBA-DE1B-E4CB618DFD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BD71A6-E3AF-3B96-46AA-6DB2A2D7C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9AA3E-123B-4F36-88AA-85D9772B1B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9790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B9649-247D-6A68-8F9E-F6DB531C8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DE02D6-B8C5-2EB3-1A57-FBB23347A1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B705D4-3D66-6A98-A5BD-C153EA53C1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69919-4D05-4CC0-B505-81598EF1437B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7C2881-C032-30FE-F12A-DCA123386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E8D5BB-C849-E1A7-2DD9-9251CC930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9AA3E-123B-4F36-88AA-85D9772B1B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4039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E664AC9-F5D2-8F71-0A17-924AE0F9BA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5F7D6B-0913-4DBE-79F2-2119677646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303744-F064-1FBE-F17C-432F1405C3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69919-4D05-4CC0-B505-81598EF1437B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E9CCCA-03E7-C3D8-E778-5BDD45CDA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5008E8-0B7D-B74E-4DD5-CAC4708F8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9AA3E-123B-4F36-88AA-85D9772B1B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918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A3EABFA-B1B5-0B7E-27E0-2C54AB62B7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28AF73-43ED-7405-7964-B5C19DAC16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037BDD-E459-CC0F-6359-A6415DB6A4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969919-4D05-4CC0-B505-81598EF1437B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684BDD-BD3D-3E35-2C95-D85CF7C76A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A520A1-A164-D475-8BAD-A2F10AF284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19AA3E-123B-4F36-88AA-85D9772B1B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032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E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44E49E2-EC73-04C1-3B61-EB08FB8A2609}"/>
              </a:ext>
            </a:extLst>
          </p:cNvPr>
          <p:cNvSpPr txBox="1"/>
          <p:nvPr/>
        </p:nvSpPr>
        <p:spPr>
          <a:xfrm>
            <a:off x="11239500" y="6451600"/>
            <a:ext cx="4445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sz="1200">
                <a:solidFill>
                  <a:srgbClr val="BCCAD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01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AACB77-AD19-F6A9-6C78-634B00BC2156}"/>
              </a:ext>
            </a:extLst>
          </p:cNvPr>
          <p:cNvSpPr txBox="1"/>
          <p:nvPr/>
        </p:nvSpPr>
        <p:spPr>
          <a:xfrm>
            <a:off x="698500" y="1841499"/>
            <a:ext cx="10795000" cy="1143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sz="5800" b="1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TicketCenter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A93C98-B6D2-6898-A831-C5DAED31EDF5}"/>
              </a:ext>
            </a:extLst>
          </p:cNvPr>
          <p:cNvSpPr txBox="1"/>
          <p:nvPr/>
        </p:nvSpPr>
        <p:spPr>
          <a:xfrm>
            <a:off x="736600" y="3187699"/>
            <a:ext cx="10541000" cy="762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th-TH" sz="290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ระบบจัดการคำขอบริการภายในองค์กร</a:t>
            </a:r>
            <a:endParaRPr lang="en-US" sz="2900">
              <a:solidFill>
                <a:srgbClr val="FFFFFF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EF993C-FF9A-3456-269A-5A38338BFD24}"/>
              </a:ext>
            </a:extLst>
          </p:cNvPr>
          <p:cNvSpPr txBox="1"/>
          <p:nvPr/>
        </p:nvSpPr>
        <p:spPr>
          <a:xfrm>
            <a:off x="736600" y="4444999"/>
            <a:ext cx="10541000" cy="762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sz="2300">
                <a:solidFill>
                  <a:srgbClr val="BCCAD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Sprint 1   Infrastructure, Security </a:t>
            </a:r>
            <a:r>
              <a:rPr lang="th-TH" sz="2300">
                <a:solidFill>
                  <a:srgbClr val="BCCAD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และ </a:t>
            </a:r>
            <a:r>
              <a:rPr lang="en-US" sz="2300">
                <a:solidFill>
                  <a:srgbClr val="BCCAD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Features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7D6E48-21AE-24AB-307E-6AB36610AF3D}"/>
              </a:ext>
            </a:extLst>
          </p:cNvPr>
          <p:cNvSpPr txBox="1"/>
          <p:nvPr/>
        </p:nvSpPr>
        <p:spPr>
          <a:xfrm>
            <a:off x="736600" y="5778499"/>
            <a:ext cx="10541000" cy="406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th-TH" sz="1900">
                <a:solidFill>
                  <a:srgbClr val="BCCAD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โครงงานกลุ่ม 2 คน</a:t>
            </a:r>
            <a:endParaRPr lang="en-US" sz="1900">
              <a:solidFill>
                <a:srgbClr val="BCCADC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50436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6BE3C0F-35B2-0A1C-0FAE-E87AA7B09092}"/>
              </a:ext>
            </a:extLst>
          </p:cNvPr>
          <p:cNvSpPr txBox="1"/>
          <p:nvPr/>
        </p:nvSpPr>
        <p:spPr>
          <a:xfrm>
            <a:off x="508000" y="380999"/>
            <a:ext cx="11176000" cy="990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th-TH" sz="3200" b="1">
                <a:solidFill>
                  <a:srgbClr val="18294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ปัญหาที่ </a:t>
            </a:r>
            <a:r>
              <a:rPr lang="en-US" sz="3200" b="1">
                <a:solidFill>
                  <a:srgbClr val="18294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TicketCenter </a:t>
            </a:r>
            <a:r>
              <a:rPr lang="th-TH" sz="3200" b="1">
                <a:solidFill>
                  <a:srgbClr val="18294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ช่วยแก้</a:t>
            </a:r>
            <a:endParaRPr lang="en-US" sz="3200" b="1">
              <a:solidFill>
                <a:srgbClr val="18294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BA67A2-F069-DA2C-338E-28294C901591}"/>
              </a:ext>
            </a:extLst>
          </p:cNvPr>
          <p:cNvSpPr txBox="1"/>
          <p:nvPr/>
        </p:nvSpPr>
        <p:spPr>
          <a:xfrm>
            <a:off x="11239500" y="6451600"/>
            <a:ext cx="4445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sz="1200">
                <a:solidFill>
                  <a:srgbClr val="4F607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02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F80628-E325-FE2F-7718-FFFEE5D4F043}"/>
              </a:ext>
            </a:extLst>
          </p:cNvPr>
          <p:cNvSpPr txBox="1"/>
          <p:nvPr/>
        </p:nvSpPr>
        <p:spPr>
          <a:xfrm>
            <a:off x="508000" y="1777999"/>
            <a:ext cx="4889500" cy="571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th-TH" sz="2500" b="1">
                <a:solidFill>
                  <a:srgbClr val="286FCD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ปัญหาปัจจุบัน</a:t>
            </a:r>
            <a:endParaRPr lang="en-US" sz="2500" b="1">
              <a:solidFill>
                <a:srgbClr val="286FCD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502346-54E2-051C-7C07-0EDE07A5C054}"/>
              </a:ext>
            </a:extLst>
          </p:cNvPr>
          <p:cNvSpPr txBox="1"/>
          <p:nvPr/>
        </p:nvSpPr>
        <p:spPr>
          <a:xfrm>
            <a:off x="508000" y="2603499"/>
            <a:ext cx="4953000" cy="279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th-TH" sz="2500">
                <a:solidFill>
                  <a:srgbClr val="18294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คำขอกระจายหลายช่องทาง</a:t>
            </a:r>
          </a:p>
          <a:p>
            <a:pPr>
              <a:spcAft>
                <a:spcPts val="600"/>
              </a:spcAft>
            </a:pPr>
            <a:r>
              <a:rPr lang="th-TH" sz="2500">
                <a:solidFill>
                  <a:srgbClr val="18294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ผู้แจ้งไม่รู้ว่าเรื่องถึงฝ่ายใด</a:t>
            </a:r>
          </a:p>
          <a:p>
            <a:pPr>
              <a:spcAft>
                <a:spcPts val="600"/>
              </a:spcAft>
            </a:pPr>
            <a:r>
              <a:rPr lang="th-TH" sz="2500">
                <a:solidFill>
                  <a:srgbClr val="18294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ต้องถามความคืบหน้าซ้ำ</a:t>
            </a:r>
            <a:endParaRPr lang="en-US" sz="2500">
              <a:solidFill>
                <a:srgbClr val="18294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0A2788-EAA0-CBCE-38D6-1A9ABA03E850}"/>
              </a:ext>
            </a:extLst>
          </p:cNvPr>
          <p:cNvSpPr txBox="1"/>
          <p:nvPr/>
        </p:nvSpPr>
        <p:spPr>
          <a:xfrm>
            <a:off x="6413500" y="1777999"/>
            <a:ext cx="5270500" cy="571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th-TH" sz="2500" b="1">
                <a:solidFill>
                  <a:srgbClr val="286FCD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สิ่งที่ระบบให้ผู้ใช้</a:t>
            </a:r>
            <a:endParaRPr lang="en-US" sz="2500" b="1">
              <a:solidFill>
                <a:srgbClr val="286FCD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BBEAF4-CBDE-528E-2828-10C5CF5754E2}"/>
              </a:ext>
            </a:extLst>
          </p:cNvPr>
          <p:cNvSpPr txBox="1"/>
          <p:nvPr/>
        </p:nvSpPr>
        <p:spPr>
          <a:xfrm>
            <a:off x="6413500" y="2603499"/>
            <a:ext cx="5207000" cy="279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sz="2500">
                <a:solidFill>
                  <a:srgbClr val="18294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Ticket </a:t>
            </a:r>
            <a:r>
              <a:rPr lang="th-TH" sz="2500">
                <a:solidFill>
                  <a:srgbClr val="18294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มีฝ่ายรับผิดชอบชัดเจน</a:t>
            </a:r>
          </a:p>
          <a:p>
            <a:pPr>
              <a:spcAft>
                <a:spcPts val="600"/>
              </a:spcAft>
            </a:pPr>
            <a:r>
              <a:rPr lang="th-TH" sz="2500">
                <a:solidFill>
                  <a:srgbClr val="18294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ดูสถานะและคุยในเรื่องเดียวกัน</a:t>
            </a:r>
          </a:p>
          <a:p>
            <a:pPr>
              <a:spcAft>
                <a:spcPts val="600"/>
              </a:spcAft>
            </a:pPr>
            <a:r>
              <a:rPr lang="th-TH" sz="2500">
                <a:solidFill>
                  <a:srgbClr val="18294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ตรวจประวัติย้อนหลังได้</a:t>
            </a:r>
            <a:endParaRPr lang="en-US" sz="2500">
              <a:solidFill>
                <a:srgbClr val="18294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00591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629B7CF-7D66-7A0D-0693-944D0061B10A}"/>
              </a:ext>
            </a:extLst>
          </p:cNvPr>
          <p:cNvSpPr txBox="1"/>
          <p:nvPr/>
        </p:nvSpPr>
        <p:spPr>
          <a:xfrm>
            <a:off x="508000" y="380999"/>
            <a:ext cx="11176000" cy="990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sz="3200" b="1">
                <a:solidFill>
                  <a:srgbClr val="18294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Infrastructure </a:t>
            </a:r>
            <a:r>
              <a:rPr lang="th-TH" sz="3200" b="1">
                <a:solidFill>
                  <a:srgbClr val="18294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ที่ใช้รันระบบ</a:t>
            </a:r>
            <a:endParaRPr lang="en-US" sz="3200" b="1">
              <a:solidFill>
                <a:srgbClr val="18294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27D4D6-FAD5-6005-6B0F-7959815600FC}"/>
              </a:ext>
            </a:extLst>
          </p:cNvPr>
          <p:cNvSpPr txBox="1"/>
          <p:nvPr/>
        </p:nvSpPr>
        <p:spPr>
          <a:xfrm>
            <a:off x="11239500" y="6451600"/>
            <a:ext cx="4445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sz="1200">
                <a:solidFill>
                  <a:srgbClr val="4F607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03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6BDABE-CA43-4938-A744-27D8A8DC6D85}"/>
              </a:ext>
            </a:extLst>
          </p:cNvPr>
          <p:cNvSpPr txBox="1"/>
          <p:nvPr/>
        </p:nvSpPr>
        <p:spPr>
          <a:xfrm>
            <a:off x="508000" y="1676399"/>
            <a:ext cx="3429000" cy="571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sz="2500" b="1">
                <a:solidFill>
                  <a:srgbClr val="286FCD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React </a:t>
            </a:r>
            <a:r>
              <a:rPr lang="th-TH" sz="2500" b="1">
                <a:solidFill>
                  <a:srgbClr val="286FCD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และ </a:t>
            </a:r>
            <a:r>
              <a:rPr lang="en-US" sz="2500" b="1">
                <a:solidFill>
                  <a:srgbClr val="286FCD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Vite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8450CA-9E60-1084-6ECE-9405B83E22D1}"/>
              </a:ext>
            </a:extLst>
          </p:cNvPr>
          <p:cNvSpPr txBox="1"/>
          <p:nvPr/>
        </p:nvSpPr>
        <p:spPr>
          <a:xfrm>
            <a:off x="4445000" y="1676399"/>
            <a:ext cx="7239000" cy="635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th-TH" sz="2300">
                <a:solidFill>
                  <a:srgbClr val="18294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หน้าเว็บและไฟล์สำหรับให้บริการเว็บ</a:t>
            </a:r>
            <a:endParaRPr lang="en-US" sz="2300">
              <a:solidFill>
                <a:srgbClr val="18294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FD1A9E-0DAB-CB68-14ED-A86DA1BB1A3E}"/>
              </a:ext>
            </a:extLst>
          </p:cNvPr>
          <p:cNvSpPr txBox="1"/>
          <p:nvPr/>
        </p:nvSpPr>
        <p:spPr>
          <a:xfrm>
            <a:off x="508000" y="2463799"/>
            <a:ext cx="3429000" cy="571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sz="2500" b="1">
                <a:solidFill>
                  <a:srgbClr val="286FCD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Nginx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4EDD4B-07C6-5BF5-62CD-7B8D13B521A6}"/>
              </a:ext>
            </a:extLst>
          </p:cNvPr>
          <p:cNvSpPr txBox="1"/>
          <p:nvPr/>
        </p:nvSpPr>
        <p:spPr>
          <a:xfrm>
            <a:off x="4445000" y="2463799"/>
            <a:ext cx="7239000" cy="635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th-TH" sz="2300">
                <a:solidFill>
                  <a:srgbClr val="18294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ให้บริการ </a:t>
            </a:r>
            <a:r>
              <a:rPr lang="en-US" sz="2300">
                <a:solidFill>
                  <a:srgbClr val="18294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HTTPS </a:t>
            </a:r>
            <a:r>
              <a:rPr lang="th-TH" sz="2300">
                <a:solidFill>
                  <a:srgbClr val="18294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และส่งต่อคำขอ /</a:t>
            </a:r>
            <a:r>
              <a:rPr lang="en-US" sz="2300">
                <a:solidFill>
                  <a:srgbClr val="18294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api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2441E4-D741-075A-0B39-4E5DBA31BEE2}"/>
              </a:ext>
            </a:extLst>
          </p:cNvPr>
          <p:cNvSpPr txBox="1"/>
          <p:nvPr/>
        </p:nvSpPr>
        <p:spPr>
          <a:xfrm>
            <a:off x="508000" y="3251199"/>
            <a:ext cx="3429000" cy="571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sz="2500" b="1">
                <a:solidFill>
                  <a:srgbClr val="286FCD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FastAPI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BC39B31-B74E-94DC-4E76-5FBAE4B07B99}"/>
              </a:ext>
            </a:extLst>
          </p:cNvPr>
          <p:cNvSpPr txBox="1"/>
          <p:nvPr/>
        </p:nvSpPr>
        <p:spPr>
          <a:xfrm>
            <a:off x="4445000" y="3251199"/>
            <a:ext cx="7239000" cy="635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th-TH" sz="2300">
                <a:solidFill>
                  <a:srgbClr val="18294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ตรวจสิทธิ์และจัดการคำขอของผู้ใช้</a:t>
            </a:r>
            <a:endParaRPr lang="en-US" sz="2300">
              <a:solidFill>
                <a:srgbClr val="18294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D32A970-CAC9-0E8A-3039-56D3EC02A086}"/>
              </a:ext>
            </a:extLst>
          </p:cNvPr>
          <p:cNvSpPr txBox="1"/>
          <p:nvPr/>
        </p:nvSpPr>
        <p:spPr>
          <a:xfrm>
            <a:off x="508000" y="4038599"/>
            <a:ext cx="3429000" cy="571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sz="2500" b="1">
                <a:solidFill>
                  <a:srgbClr val="286FCD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PostgreSQL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F4D9E02-666A-56AF-4BBC-F8F64A42412F}"/>
              </a:ext>
            </a:extLst>
          </p:cNvPr>
          <p:cNvSpPr txBox="1"/>
          <p:nvPr/>
        </p:nvSpPr>
        <p:spPr>
          <a:xfrm>
            <a:off x="4445000" y="4038599"/>
            <a:ext cx="7239000" cy="635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th-TH" sz="2300">
                <a:solidFill>
                  <a:srgbClr val="18294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เก็บข้อมูลถาวรในตาราง</a:t>
            </a:r>
            <a:endParaRPr lang="en-US" sz="2300">
              <a:solidFill>
                <a:srgbClr val="18294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95392FE-BE3D-A477-8147-9732AFE2153E}"/>
              </a:ext>
            </a:extLst>
          </p:cNvPr>
          <p:cNvSpPr txBox="1"/>
          <p:nvPr/>
        </p:nvSpPr>
        <p:spPr>
          <a:xfrm>
            <a:off x="508000" y="4825999"/>
            <a:ext cx="3429000" cy="571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sz="2500" b="1">
                <a:solidFill>
                  <a:srgbClr val="286FCD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Docker Compose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A769F87-A7D2-1C8F-CB3D-EE05454F996C}"/>
              </a:ext>
            </a:extLst>
          </p:cNvPr>
          <p:cNvSpPr txBox="1"/>
          <p:nvPr/>
        </p:nvSpPr>
        <p:spPr>
          <a:xfrm>
            <a:off x="4445000" y="4825999"/>
            <a:ext cx="7239000" cy="635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th-TH" sz="2300">
                <a:solidFill>
                  <a:srgbClr val="18294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เปิด </a:t>
            </a:r>
            <a:r>
              <a:rPr lang="en-US" sz="2300">
                <a:solidFill>
                  <a:srgbClr val="18294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web, api </a:t>
            </a:r>
            <a:r>
              <a:rPr lang="th-TH" sz="2300">
                <a:solidFill>
                  <a:srgbClr val="18294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และ </a:t>
            </a:r>
            <a:r>
              <a:rPr lang="en-US" sz="2300">
                <a:solidFill>
                  <a:srgbClr val="18294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db </a:t>
            </a:r>
            <a:r>
              <a:rPr lang="th-TH" sz="2300">
                <a:solidFill>
                  <a:srgbClr val="18294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พร้อมกันบนเครื่อง</a:t>
            </a:r>
            <a:endParaRPr lang="en-US" sz="2300">
              <a:solidFill>
                <a:srgbClr val="18294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0A92FC-7753-70E7-456A-54DE9CE1C83E}"/>
              </a:ext>
            </a:extLst>
          </p:cNvPr>
          <p:cNvSpPr txBox="1"/>
          <p:nvPr/>
        </p:nvSpPr>
        <p:spPr>
          <a:xfrm>
            <a:off x="508000" y="5867399"/>
            <a:ext cx="11176000" cy="444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sz="2100">
                <a:solidFill>
                  <a:srgbClr val="4F607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JSON </a:t>
            </a:r>
            <a:r>
              <a:rPr lang="th-TH" sz="2100">
                <a:solidFill>
                  <a:srgbClr val="4F607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ใช้รับส่งข้อมูล   </a:t>
            </a:r>
            <a:r>
              <a:rPr lang="en-US" sz="2100">
                <a:solidFill>
                  <a:srgbClr val="4F607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PostgreSQL </a:t>
            </a:r>
            <a:r>
              <a:rPr lang="th-TH" sz="2100">
                <a:solidFill>
                  <a:srgbClr val="4F607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ใช้เก็บข้อมูล</a:t>
            </a:r>
            <a:endParaRPr lang="en-US" sz="2100">
              <a:solidFill>
                <a:srgbClr val="4F6075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82788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054C3C2-46E8-148D-BF60-73431AAEA422}"/>
              </a:ext>
            </a:extLst>
          </p:cNvPr>
          <p:cNvSpPr txBox="1"/>
          <p:nvPr/>
        </p:nvSpPr>
        <p:spPr>
          <a:xfrm>
            <a:off x="508000" y="380999"/>
            <a:ext cx="11176000" cy="990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th-TH" sz="3200" b="1">
                <a:solidFill>
                  <a:srgbClr val="18294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การรันบริการและการเปิดพอร์ต</a:t>
            </a:r>
            <a:endParaRPr lang="en-US" sz="3200" b="1">
              <a:solidFill>
                <a:srgbClr val="18294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102562-31A0-8F1F-54BC-9E2304E55CBD}"/>
              </a:ext>
            </a:extLst>
          </p:cNvPr>
          <p:cNvSpPr txBox="1"/>
          <p:nvPr/>
        </p:nvSpPr>
        <p:spPr>
          <a:xfrm>
            <a:off x="11239500" y="6451600"/>
            <a:ext cx="4445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sz="1200">
                <a:solidFill>
                  <a:srgbClr val="4F607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04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3E2B71-7F92-33DE-D815-5AAC45523C7A}"/>
              </a:ext>
            </a:extLst>
          </p:cNvPr>
          <p:cNvSpPr txBox="1"/>
          <p:nvPr/>
        </p:nvSpPr>
        <p:spPr>
          <a:xfrm>
            <a:off x="508000" y="1714499"/>
            <a:ext cx="4699000" cy="2032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sz="2300">
                <a:solidFill>
                  <a:srgbClr val="18294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web    </a:t>
            </a:r>
            <a:r>
              <a:rPr lang="th-TH" sz="2300">
                <a:solidFill>
                  <a:srgbClr val="18294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เปิด 80 และ 443</a:t>
            </a:r>
          </a:p>
          <a:p>
            <a:pPr>
              <a:spcAft>
                <a:spcPts val="600"/>
              </a:spcAft>
            </a:pPr>
            <a:r>
              <a:rPr lang="en-US" sz="2300">
                <a:solidFill>
                  <a:srgbClr val="18294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api     8000 </a:t>
            </a:r>
            <a:r>
              <a:rPr lang="th-TH" sz="2300">
                <a:solidFill>
                  <a:srgbClr val="18294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ภายใน </a:t>
            </a:r>
            <a:r>
              <a:rPr lang="en-US" sz="2300">
                <a:solidFill>
                  <a:srgbClr val="18294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Docker</a:t>
            </a:r>
          </a:p>
          <a:p>
            <a:pPr>
              <a:spcAft>
                <a:spcPts val="600"/>
              </a:spcAft>
            </a:pPr>
            <a:r>
              <a:rPr lang="en-US" sz="2300">
                <a:solidFill>
                  <a:srgbClr val="18294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db      5432 </a:t>
            </a:r>
            <a:r>
              <a:rPr lang="th-TH" sz="2300">
                <a:solidFill>
                  <a:srgbClr val="18294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ภายใน </a:t>
            </a:r>
            <a:r>
              <a:rPr lang="en-US" sz="2300">
                <a:solidFill>
                  <a:srgbClr val="18294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Docker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674C6F-5285-AEBF-3A06-4F0EF72C604B}"/>
              </a:ext>
            </a:extLst>
          </p:cNvPr>
          <p:cNvSpPr txBox="1"/>
          <p:nvPr/>
        </p:nvSpPr>
        <p:spPr>
          <a:xfrm>
            <a:off x="508000" y="4140199"/>
            <a:ext cx="4826000" cy="1270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sz="2200">
                <a:solidFill>
                  <a:srgbClr val="4F607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Volume </a:t>
            </a:r>
            <a:r>
              <a:rPr lang="th-TH" sz="2200">
                <a:solidFill>
                  <a:srgbClr val="4F607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เก็บข้อมูลหลัง </a:t>
            </a:r>
            <a:r>
              <a:rPr lang="en-US" sz="2200">
                <a:solidFill>
                  <a:srgbClr val="4F607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restart</a:t>
            </a:r>
          </a:p>
          <a:p>
            <a:pPr>
              <a:spcAft>
                <a:spcPts val="600"/>
              </a:spcAft>
            </a:pPr>
            <a:r>
              <a:rPr lang="en-US" sz="2200">
                <a:solidFill>
                  <a:srgbClr val="4F607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Migration </a:t>
            </a:r>
            <a:r>
              <a:rPr lang="th-TH" sz="2200">
                <a:solidFill>
                  <a:srgbClr val="4F607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เตรียมโครงสร้างตาราง</a:t>
            </a:r>
            <a:endParaRPr lang="en-US" sz="2200">
              <a:solidFill>
                <a:srgbClr val="4F6075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Screenshot placeholder: ภาพผล docker compose ps" descr="พื้นที่สำหรับภาพ ภาพผล docker compose ps ผู้ใช้จะเพิ่มภาพจากระบบจริง">
            <a:extLst>
              <a:ext uri="{FF2B5EF4-FFF2-40B4-BE49-F238E27FC236}">
                <a16:creationId xmlns:a16="http://schemas.microsoft.com/office/drawing/2014/main" id="{46BB02A0-8BE6-E378-45C8-6CE5106709DF}"/>
              </a:ext>
            </a:extLst>
          </p:cNvPr>
          <p:cNvSpPr txBox="1"/>
          <p:nvPr/>
        </p:nvSpPr>
        <p:spPr>
          <a:xfrm>
            <a:off x="5588000" y="1676399"/>
            <a:ext cx="6096000" cy="3733800"/>
          </a:xfrm>
          <a:prstGeom prst="rect">
            <a:avLst/>
          </a:prstGeom>
          <a:solidFill>
            <a:srgbClr val="F3F6FA"/>
          </a:solidFill>
          <a:ln w="15875">
            <a:solidFill>
              <a:srgbClr val="BCCADC"/>
            </a:solidFill>
            <a:prstDash val="dash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Aft>
                <a:spcPts val="600"/>
              </a:spcAft>
            </a:pPr>
            <a:r>
              <a:rPr lang="th-TH" sz="2100">
                <a:solidFill>
                  <a:srgbClr val="4F607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ภาพผล </a:t>
            </a:r>
            <a:r>
              <a:rPr lang="en-US" sz="2100">
                <a:solidFill>
                  <a:srgbClr val="4F607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docker compose ps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230DAA-C6FD-7447-573E-272B04E9BA95}"/>
              </a:ext>
            </a:extLst>
          </p:cNvPr>
          <p:cNvSpPr txBox="1"/>
          <p:nvPr/>
        </p:nvSpPr>
        <p:spPr>
          <a:xfrm>
            <a:off x="508000" y="5841999"/>
            <a:ext cx="11176000" cy="635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sz="2100" b="1">
                <a:solidFill>
                  <a:srgbClr val="286FCD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Docker Compose </a:t>
            </a:r>
            <a:r>
              <a:rPr lang="th-TH" sz="2100" b="1">
                <a:solidFill>
                  <a:srgbClr val="286FCD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ใช้เดโมบนเครื่อง   </a:t>
            </a:r>
            <a:r>
              <a:rPr lang="en-US" sz="2100" b="1">
                <a:solidFill>
                  <a:srgbClr val="286FCD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AWS Terraform </a:t>
            </a:r>
            <a:r>
              <a:rPr lang="th-TH" sz="2100" b="1">
                <a:solidFill>
                  <a:srgbClr val="286FCD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ยังไม่ได้ </a:t>
            </a:r>
            <a:r>
              <a:rPr lang="en-US" sz="2100" b="1">
                <a:solidFill>
                  <a:srgbClr val="286FCD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deploy</a:t>
            </a:r>
          </a:p>
        </p:txBody>
      </p:sp>
    </p:spTree>
    <p:extLst>
      <p:ext uri="{BB962C8B-B14F-4D97-AF65-F5344CB8AC3E}">
        <p14:creationId xmlns:p14="http://schemas.microsoft.com/office/powerpoint/2010/main" val="16087602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07AB67D-2C22-6DF3-1D68-B8CCACD0FBFC}"/>
              </a:ext>
            </a:extLst>
          </p:cNvPr>
          <p:cNvSpPr txBox="1"/>
          <p:nvPr/>
        </p:nvSpPr>
        <p:spPr>
          <a:xfrm>
            <a:off x="508000" y="380999"/>
            <a:ext cx="11176000" cy="990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sz="3200" b="1">
                <a:solidFill>
                  <a:srgbClr val="18294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Security </a:t>
            </a:r>
            <a:r>
              <a:rPr lang="th-TH" sz="3200" b="1">
                <a:solidFill>
                  <a:srgbClr val="18294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และสิทธิ์การใช้งาน</a:t>
            </a:r>
            <a:endParaRPr lang="en-US" sz="3200" b="1">
              <a:solidFill>
                <a:srgbClr val="18294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5AFFE34-7788-A081-AF9A-6131F7A3AEFE}"/>
              </a:ext>
            </a:extLst>
          </p:cNvPr>
          <p:cNvSpPr txBox="1"/>
          <p:nvPr/>
        </p:nvSpPr>
        <p:spPr>
          <a:xfrm>
            <a:off x="11239500" y="6451600"/>
            <a:ext cx="4445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sz="1200">
                <a:solidFill>
                  <a:srgbClr val="4F607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05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4192D3-458D-F30A-240E-3A34E34CDBA7}"/>
              </a:ext>
            </a:extLst>
          </p:cNvPr>
          <p:cNvSpPr txBox="1"/>
          <p:nvPr/>
        </p:nvSpPr>
        <p:spPr>
          <a:xfrm>
            <a:off x="508000" y="1714499"/>
            <a:ext cx="2794000" cy="533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sz="2500" b="1">
                <a:solidFill>
                  <a:srgbClr val="286FCD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Employee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8B47E2-5C82-E730-3D3F-6AFE661A3D3B}"/>
              </a:ext>
            </a:extLst>
          </p:cNvPr>
          <p:cNvSpPr txBox="1"/>
          <p:nvPr/>
        </p:nvSpPr>
        <p:spPr>
          <a:xfrm>
            <a:off x="3556000" y="1714499"/>
            <a:ext cx="8128000" cy="635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th-TH" sz="2300">
                <a:solidFill>
                  <a:srgbClr val="18294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สร้างและดูเฉพาะ </a:t>
            </a:r>
            <a:r>
              <a:rPr lang="en-US" sz="2300">
                <a:solidFill>
                  <a:srgbClr val="18294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Ticket </a:t>
            </a:r>
            <a:r>
              <a:rPr lang="th-TH" sz="2300">
                <a:solidFill>
                  <a:srgbClr val="18294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ของตน</a:t>
            </a:r>
            <a:endParaRPr lang="en-US" sz="2300">
              <a:solidFill>
                <a:srgbClr val="18294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36D5CE-47B8-8806-C6AF-C615F67B1417}"/>
              </a:ext>
            </a:extLst>
          </p:cNvPr>
          <p:cNvSpPr txBox="1"/>
          <p:nvPr/>
        </p:nvSpPr>
        <p:spPr>
          <a:xfrm>
            <a:off x="508000" y="2514599"/>
            <a:ext cx="2794000" cy="533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sz="2500" b="1">
                <a:solidFill>
                  <a:srgbClr val="286FCD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Agent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9B90D5A-950E-66E2-49A0-2F1ADF49C9D0}"/>
              </a:ext>
            </a:extLst>
          </p:cNvPr>
          <p:cNvSpPr txBox="1"/>
          <p:nvPr/>
        </p:nvSpPr>
        <p:spPr>
          <a:xfrm>
            <a:off x="3556000" y="2514599"/>
            <a:ext cx="8128000" cy="635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th-TH" sz="2300">
                <a:solidFill>
                  <a:srgbClr val="18294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จัดการ </a:t>
            </a:r>
            <a:r>
              <a:rPr lang="en-US" sz="2300">
                <a:solidFill>
                  <a:srgbClr val="18294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Ticket </a:t>
            </a:r>
            <a:r>
              <a:rPr lang="th-TH" sz="2300">
                <a:solidFill>
                  <a:srgbClr val="18294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เฉพาะฝ่าย </a:t>
            </a:r>
            <a:r>
              <a:rPr lang="en-US" sz="2300">
                <a:solidFill>
                  <a:srgbClr val="18294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IT </a:t>
            </a:r>
            <a:r>
              <a:rPr lang="th-TH" sz="2300">
                <a:solidFill>
                  <a:srgbClr val="18294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หรือ </a:t>
            </a:r>
            <a:r>
              <a:rPr lang="en-US" sz="2300">
                <a:solidFill>
                  <a:srgbClr val="18294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HR </a:t>
            </a:r>
            <a:r>
              <a:rPr lang="th-TH" sz="2300">
                <a:solidFill>
                  <a:srgbClr val="18294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ของตน</a:t>
            </a:r>
            <a:endParaRPr lang="en-US" sz="2300">
              <a:solidFill>
                <a:srgbClr val="18294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179957-4165-12DE-E9CF-84F68A1D47B6}"/>
              </a:ext>
            </a:extLst>
          </p:cNvPr>
          <p:cNvSpPr txBox="1"/>
          <p:nvPr/>
        </p:nvSpPr>
        <p:spPr>
          <a:xfrm>
            <a:off x="508000" y="3314699"/>
            <a:ext cx="2794000" cy="533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sz="2500" b="1">
                <a:solidFill>
                  <a:srgbClr val="286FCD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Admin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F14ADB-053F-580F-DE17-AF55D09297C7}"/>
              </a:ext>
            </a:extLst>
          </p:cNvPr>
          <p:cNvSpPr txBox="1"/>
          <p:nvPr/>
        </p:nvSpPr>
        <p:spPr>
          <a:xfrm>
            <a:off x="3556000" y="3314699"/>
            <a:ext cx="8128000" cy="635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th-TH" sz="2300">
                <a:solidFill>
                  <a:srgbClr val="18294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ดูภาพรวมและช่วยจัดลำดับงานข้ามฝ่าย</a:t>
            </a:r>
            <a:endParaRPr lang="en-US" sz="2300">
              <a:solidFill>
                <a:srgbClr val="18294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5B54694-3B80-81C2-EC1C-9920A59D367E}"/>
              </a:ext>
            </a:extLst>
          </p:cNvPr>
          <p:cNvSpPr txBox="1"/>
          <p:nvPr/>
        </p:nvSpPr>
        <p:spPr>
          <a:xfrm>
            <a:off x="508000" y="4356099"/>
            <a:ext cx="11176000" cy="571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sz="2600" b="1">
                <a:solidFill>
                  <a:srgbClr val="18294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Backend </a:t>
            </a:r>
            <a:r>
              <a:rPr lang="th-TH" sz="2600" b="1">
                <a:solidFill>
                  <a:srgbClr val="18294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เป็นผู้บังคับสิทธิ์ทุกครั้ง</a:t>
            </a:r>
            <a:endParaRPr lang="en-US" sz="2600" b="1">
              <a:solidFill>
                <a:srgbClr val="18294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4B273FB-8647-5E7B-F792-6E415316EB63}"/>
              </a:ext>
            </a:extLst>
          </p:cNvPr>
          <p:cNvSpPr txBox="1"/>
          <p:nvPr/>
        </p:nvSpPr>
        <p:spPr>
          <a:xfrm>
            <a:off x="508000" y="5168899"/>
            <a:ext cx="11176000" cy="1054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th-TH" sz="2000">
                <a:solidFill>
                  <a:srgbClr val="4F607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รหัสผ่านเก็บเป็น </a:t>
            </a:r>
            <a:r>
              <a:rPr lang="en-US" sz="2000">
                <a:solidFill>
                  <a:srgbClr val="4F607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hash   </a:t>
            </a:r>
            <a:r>
              <a:rPr lang="th-TH" sz="2000">
                <a:solidFill>
                  <a:srgbClr val="4F607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ใช้ </a:t>
            </a:r>
            <a:r>
              <a:rPr lang="en-US" sz="2000">
                <a:solidFill>
                  <a:srgbClr val="4F607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JWT </a:t>
            </a:r>
            <a:r>
              <a:rPr lang="th-TH" sz="2000">
                <a:solidFill>
                  <a:srgbClr val="4F607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หลัง </a:t>
            </a:r>
            <a:r>
              <a:rPr lang="en-US" sz="2000">
                <a:solidFill>
                  <a:srgbClr val="4F607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Login   Secret </a:t>
            </a:r>
            <a:r>
              <a:rPr lang="th-TH" sz="2000">
                <a:solidFill>
                  <a:srgbClr val="4F607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อยู่ใน </a:t>
            </a:r>
            <a:r>
              <a:rPr lang="en-US" sz="2000">
                <a:solidFill>
                  <a:srgbClr val="4F607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environment</a:t>
            </a:r>
          </a:p>
          <a:p>
            <a:pPr>
              <a:spcAft>
                <a:spcPts val="600"/>
              </a:spcAft>
            </a:pPr>
            <a:r>
              <a:rPr lang="en-US" sz="2000">
                <a:solidFill>
                  <a:srgbClr val="4F607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HTTPS </a:t>
            </a:r>
            <a:r>
              <a:rPr lang="th-TH" sz="2000">
                <a:solidFill>
                  <a:srgbClr val="4F607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บน </a:t>
            </a:r>
            <a:r>
              <a:rPr lang="en-US" sz="2000">
                <a:solidFill>
                  <a:srgbClr val="4F607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localhost </a:t>
            </a:r>
            <a:r>
              <a:rPr lang="th-TH" sz="2000">
                <a:solidFill>
                  <a:srgbClr val="4F607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ใช้ใบรับรองสำหรับทดสอบ</a:t>
            </a:r>
            <a:endParaRPr lang="en-US" sz="2000">
              <a:solidFill>
                <a:srgbClr val="4F6075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26126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45D58F4-562C-35D7-3E59-FB57A4B0A8CF}"/>
              </a:ext>
            </a:extLst>
          </p:cNvPr>
          <p:cNvSpPr txBox="1"/>
          <p:nvPr/>
        </p:nvSpPr>
        <p:spPr>
          <a:xfrm>
            <a:off x="508000" y="380999"/>
            <a:ext cx="11176000" cy="990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th-TH" sz="3200" b="1">
                <a:solidFill>
                  <a:srgbClr val="18294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หน้า </a:t>
            </a:r>
            <a:r>
              <a:rPr lang="en-US" sz="3200" b="1">
                <a:solidFill>
                  <a:srgbClr val="18294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Login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4AAE85-86BB-E48B-37E9-48C79F3CB392}"/>
              </a:ext>
            </a:extLst>
          </p:cNvPr>
          <p:cNvSpPr txBox="1"/>
          <p:nvPr/>
        </p:nvSpPr>
        <p:spPr>
          <a:xfrm>
            <a:off x="11239500" y="6451600"/>
            <a:ext cx="4445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sz="1200">
                <a:solidFill>
                  <a:srgbClr val="4F607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06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B8707C-E776-42B8-0F23-747E305F96CE}"/>
              </a:ext>
            </a:extLst>
          </p:cNvPr>
          <p:cNvSpPr txBox="1"/>
          <p:nvPr/>
        </p:nvSpPr>
        <p:spPr>
          <a:xfrm>
            <a:off x="508000" y="1422399"/>
            <a:ext cx="11176000" cy="508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th-TH" sz="2200">
                <a:solidFill>
                  <a:srgbClr val="4F607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บัญชีผู้ใช้กำหนดบทบาทและฝ่ายที่เข้าถึงได้</a:t>
            </a:r>
            <a:endParaRPr lang="en-US" sz="2200">
              <a:solidFill>
                <a:srgbClr val="4F6075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Screenshot placeholder: ภาพหน้า Login" descr="พื้นที่สำหรับภาพ ภาพหน้า Login ผู้ใช้จะเพิ่มภาพจากระบบจริง">
            <a:extLst>
              <a:ext uri="{FF2B5EF4-FFF2-40B4-BE49-F238E27FC236}">
                <a16:creationId xmlns:a16="http://schemas.microsoft.com/office/drawing/2014/main" id="{826F4A29-FA03-F3F5-65BD-2D5C16B7FB6F}"/>
              </a:ext>
            </a:extLst>
          </p:cNvPr>
          <p:cNvSpPr txBox="1"/>
          <p:nvPr/>
        </p:nvSpPr>
        <p:spPr>
          <a:xfrm>
            <a:off x="508000" y="2158999"/>
            <a:ext cx="11176000" cy="3632200"/>
          </a:xfrm>
          <a:prstGeom prst="rect">
            <a:avLst/>
          </a:prstGeom>
          <a:solidFill>
            <a:srgbClr val="F3F6FA"/>
          </a:solidFill>
          <a:ln w="15875">
            <a:solidFill>
              <a:srgbClr val="BCCADC"/>
            </a:solidFill>
            <a:prstDash val="dash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Aft>
                <a:spcPts val="600"/>
              </a:spcAft>
            </a:pPr>
            <a:r>
              <a:rPr lang="th-TH" sz="2100">
                <a:solidFill>
                  <a:srgbClr val="4F607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ภาพหน้า </a:t>
            </a:r>
            <a:r>
              <a:rPr lang="en-US" sz="2100">
                <a:solidFill>
                  <a:srgbClr val="4F607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Login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342E1A-AFDB-EFE5-EE0D-051800AEFE1E}"/>
              </a:ext>
            </a:extLst>
          </p:cNvPr>
          <p:cNvSpPr txBox="1"/>
          <p:nvPr/>
        </p:nvSpPr>
        <p:spPr>
          <a:xfrm>
            <a:off x="508000" y="6032499"/>
            <a:ext cx="111760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sz="2000" b="1">
                <a:solidFill>
                  <a:srgbClr val="286FCD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Employee, IT Agent, HR Agent </a:t>
            </a:r>
            <a:r>
              <a:rPr lang="th-TH" sz="2000" b="1">
                <a:solidFill>
                  <a:srgbClr val="286FCD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และ </a:t>
            </a:r>
            <a:r>
              <a:rPr lang="en-US" sz="2000" b="1">
                <a:solidFill>
                  <a:srgbClr val="286FCD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Admin</a:t>
            </a:r>
          </a:p>
        </p:txBody>
      </p:sp>
    </p:spTree>
    <p:extLst>
      <p:ext uri="{BB962C8B-B14F-4D97-AF65-F5344CB8AC3E}">
        <p14:creationId xmlns:p14="http://schemas.microsoft.com/office/powerpoint/2010/main" val="12481691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E95CE3-7293-58DF-A955-447771E8F5A9}"/>
              </a:ext>
            </a:extLst>
          </p:cNvPr>
          <p:cNvSpPr txBox="1"/>
          <p:nvPr/>
        </p:nvSpPr>
        <p:spPr>
          <a:xfrm>
            <a:off x="508000" y="380999"/>
            <a:ext cx="11176000" cy="990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th-TH" sz="3200" b="1">
                <a:solidFill>
                  <a:srgbClr val="18294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หน้าคำขอของ </a:t>
            </a:r>
            <a:r>
              <a:rPr lang="en-US" sz="3200" b="1">
                <a:solidFill>
                  <a:srgbClr val="18294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Employee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8914B2-58ED-3E88-AF48-0536B0D1A7B2}"/>
              </a:ext>
            </a:extLst>
          </p:cNvPr>
          <p:cNvSpPr txBox="1"/>
          <p:nvPr/>
        </p:nvSpPr>
        <p:spPr>
          <a:xfrm>
            <a:off x="11239500" y="6451600"/>
            <a:ext cx="4445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sz="1200">
                <a:solidFill>
                  <a:srgbClr val="4F607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07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A64C06-0DAC-9274-5472-63F6D0FCB5EB}"/>
              </a:ext>
            </a:extLst>
          </p:cNvPr>
          <p:cNvSpPr txBox="1"/>
          <p:nvPr/>
        </p:nvSpPr>
        <p:spPr>
          <a:xfrm>
            <a:off x="508000" y="1422399"/>
            <a:ext cx="11176000" cy="508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th-TH" sz="2200">
                <a:solidFill>
                  <a:srgbClr val="4F607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คำขอของตนเอง พร้อมจำนวนงานและตัวกรอง</a:t>
            </a:r>
            <a:endParaRPr lang="en-US" sz="2200">
              <a:solidFill>
                <a:srgbClr val="4F6075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Screenshot placeholder: ภาพหน้าคำขอของ Employee" descr="พื้นที่สำหรับภาพ ภาพหน้าคำขอของ Employee ผู้ใช้จะเพิ่มภาพจากระบบจริง">
            <a:extLst>
              <a:ext uri="{FF2B5EF4-FFF2-40B4-BE49-F238E27FC236}">
                <a16:creationId xmlns:a16="http://schemas.microsoft.com/office/drawing/2014/main" id="{F7254AA1-EDDC-43B8-3EA9-E6607EE37606}"/>
              </a:ext>
            </a:extLst>
          </p:cNvPr>
          <p:cNvSpPr txBox="1"/>
          <p:nvPr/>
        </p:nvSpPr>
        <p:spPr>
          <a:xfrm>
            <a:off x="508000" y="2158999"/>
            <a:ext cx="11176000" cy="3632200"/>
          </a:xfrm>
          <a:prstGeom prst="rect">
            <a:avLst/>
          </a:prstGeom>
          <a:solidFill>
            <a:srgbClr val="F3F6FA"/>
          </a:solidFill>
          <a:ln w="15875">
            <a:solidFill>
              <a:srgbClr val="BCCADC"/>
            </a:solidFill>
            <a:prstDash val="dash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Aft>
                <a:spcPts val="600"/>
              </a:spcAft>
            </a:pPr>
            <a:r>
              <a:rPr lang="th-TH" sz="2100">
                <a:solidFill>
                  <a:srgbClr val="4F607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ภาพหน้าคำขอของ </a:t>
            </a:r>
            <a:r>
              <a:rPr lang="en-US" sz="2100">
                <a:solidFill>
                  <a:srgbClr val="4F607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Employee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51166B-3E68-83C7-DCFA-ACB6E39144AD}"/>
              </a:ext>
            </a:extLst>
          </p:cNvPr>
          <p:cNvSpPr txBox="1"/>
          <p:nvPr/>
        </p:nvSpPr>
        <p:spPr>
          <a:xfrm>
            <a:off x="508000" y="6032499"/>
            <a:ext cx="11176000" cy="444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th-TH" sz="2000" b="1">
                <a:solidFill>
                  <a:srgbClr val="286FCD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ค้นหา </a:t>
            </a:r>
            <a:r>
              <a:rPr lang="en-US" sz="2000" b="1">
                <a:solidFill>
                  <a:srgbClr val="286FCD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Ticket   </a:t>
            </a:r>
            <a:r>
              <a:rPr lang="th-TH" sz="2000" b="1">
                <a:solidFill>
                  <a:srgbClr val="286FCD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กรองสถานะ   ดูอายุงานและข้อความที่ยังไม่อ่าน</a:t>
            </a:r>
            <a:endParaRPr lang="en-US" sz="2000" b="1">
              <a:solidFill>
                <a:srgbClr val="286FCD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14114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A614596-E603-9D8F-FC4B-37505AAF0BB1}"/>
              </a:ext>
            </a:extLst>
          </p:cNvPr>
          <p:cNvSpPr txBox="1"/>
          <p:nvPr/>
        </p:nvSpPr>
        <p:spPr>
          <a:xfrm>
            <a:off x="508000" y="380999"/>
            <a:ext cx="11176000" cy="990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th-TH" sz="3200" b="1">
                <a:solidFill>
                  <a:srgbClr val="18294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ฟอร์มสร้าง </a:t>
            </a:r>
            <a:r>
              <a:rPr lang="en-US" sz="3200" b="1">
                <a:solidFill>
                  <a:srgbClr val="18294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Ticket </a:t>
            </a:r>
            <a:r>
              <a:rPr lang="th-TH" sz="3200" b="1">
                <a:solidFill>
                  <a:srgbClr val="18294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และการส่งเข้าคิว</a:t>
            </a:r>
            <a:endParaRPr lang="en-US" sz="3200" b="1">
              <a:solidFill>
                <a:srgbClr val="18294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97E0A6-D881-E04D-1D17-DA94B59F6087}"/>
              </a:ext>
            </a:extLst>
          </p:cNvPr>
          <p:cNvSpPr txBox="1"/>
          <p:nvPr/>
        </p:nvSpPr>
        <p:spPr>
          <a:xfrm>
            <a:off x="11239500" y="6451600"/>
            <a:ext cx="4445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sz="1200">
                <a:solidFill>
                  <a:srgbClr val="4F607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08</a:t>
            </a:r>
          </a:p>
        </p:txBody>
      </p:sp>
      <p:sp>
        <p:nvSpPr>
          <p:cNvPr id="4" name="Screenshot placeholder: ภาพฟอร์มแจ้งคำขอใหม่" descr="พื้นที่สำหรับภาพ ภาพฟอร์มแจ้งคำขอใหม่ ผู้ใช้จะเพิ่มภาพจากระบบจริง">
            <a:extLst>
              <a:ext uri="{FF2B5EF4-FFF2-40B4-BE49-F238E27FC236}">
                <a16:creationId xmlns:a16="http://schemas.microsoft.com/office/drawing/2014/main" id="{3BF497C0-253F-0DF8-3C73-87B502A10969}"/>
              </a:ext>
            </a:extLst>
          </p:cNvPr>
          <p:cNvSpPr txBox="1"/>
          <p:nvPr/>
        </p:nvSpPr>
        <p:spPr>
          <a:xfrm>
            <a:off x="508000" y="1650999"/>
            <a:ext cx="6159500" cy="4508500"/>
          </a:xfrm>
          <a:prstGeom prst="rect">
            <a:avLst/>
          </a:prstGeom>
          <a:solidFill>
            <a:srgbClr val="F3F6FA"/>
          </a:solidFill>
          <a:ln w="15875">
            <a:solidFill>
              <a:srgbClr val="BCCADC"/>
            </a:solidFill>
            <a:prstDash val="dash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Aft>
                <a:spcPts val="600"/>
              </a:spcAft>
            </a:pPr>
            <a:r>
              <a:rPr lang="th-TH" sz="2100">
                <a:solidFill>
                  <a:srgbClr val="4F607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ภาพฟอร์มแจ้งคำขอใหม่</a:t>
            </a:r>
            <a:endParaRPr lang="en-US" sz="2100">
              <a:solidFill>
                <a:srgbClr val="4F6075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B2CD64-976A-30E9-0EC4-0CE94C499CAC}"/>
              </a:ext>
            </a:extLst>
          </p:cNvPr>
          <p:cNvSpPr txBox="1"/>
          <p:nvPr/>
        </p:nvSpPr>
        <p:spPr>
          <a:xfrm>
            <a:off x="7175500" y="1714499"/>
            <a:ext cx="4508500" cy="2603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th-TH" sz="2300">
                <a:solidFill>
                  <a:srgbClr val="18294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หมวดบริการ </a:t>
            </a:r>
            <a:r>
              <a:rPr lang="en-US" sz="2300">
                <a:solidFill>
                  <a:srgbClr val="18294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IT </a:t>
            </a:r>
            <a:r>
              <a:rPr lang="th-TH" sz="2300">
                <a:solidFill>
                  <a:srgbClr val="18294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หรือ </a:t>
            </a:r>
            <a:r>
              <a:rPr lang="en-US" sz="2300">
                <a:solidFill>
                  <a:srgbClr val="18294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HR</a:t>
            </a:r>
          </a:p>
          <a:p>
            <a:pPr>
              <a:spcAft>
                <a:spcPts val="600"/>
              </a:spcAft>
            </a:pPr>
            <a:r>
              <a:rPr lang="th-TH" sz="2300">
                <a:solidFill>
                  <a:srgbClr val="18294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หัวข้อ</a:t>
            </a:r>
          </a:p>
          <a:p>
            <a:pPr>
              <a:spcAft>
                <a:spcPts val="600"/>
              </a:spcAft>
            </a:pPr>
            <a:r>
              <a:rPr lang="th-TH" sz="2300">
                <a:solidFill>
                  <a:srgbClr val="18294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ผลกระทบที่เกิดขึ้น</a:t>
            </a:r>
          </a:p>
          <a:p>
            <a:pPr>
              <a:spcAft>
                <a:spcPts val="600"/>
              </a:spcAft>
            </a:pPr>
            <a:r>
              <a:rPr lang="th-TH" sz="2300">
                <a:solidFill>
                  <a:srgbClr val="18294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รายละเอียดปัญหา</a:t>
            </a:r>
            <a:endParaRPr lang="en-US" sz="2300">
              <a:solidFill>
                <a:srgbClr val="18294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477361-80CE-DDAC-F2CE-93D9C0B946D0}"/>
              </a:ext>
            </a:extLst>
          </p:cNvPr>
          <p:cNvSpPr txBox="1"/>
          <p:nvPr/>
        </p:nvSpPr>
        <p:spPr>
          <a:xfrm>
            <a:off x="7175500" y="4533899"/>
            <a:ext cx="4445000" cy="508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th-TH" sz="2400" b="1">
                <a:solidFill>
                  <a:srgbClr val="286FCD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ค่าเริ่มต้น</a:t>
            </a:r>
            <a:endParaRPr lang="en-US" sz="2400" b="1">
              <a:solidFill>
                <a:srgbClr val="286FCD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F454B6-A8D8-4B75-5CB1-3EFA5E20C36D}"/>
              </a:ext>
            </a:extLst>
          </p:cNvPr>
          <p:cNvSpPr txBox="1"/>
          <p:nvPr/>
        </p:nvSpPr>
        <p:spPr>
          <a:xfrm>
            <a:off x="7175500" y="5118099"/>
            <a:ext cx="4445000" cy="1054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th-TH" sz="2300">
                <a:solidFill>
                  <a:srgbClr val="18294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สถานะ </a:t>
            </a:r>
            <a:r>
              <a:rPr lang="en-US" sz="2300">
                <a:solidFill>
                  <a:srgbClr val="18294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Open</a:t>
            </a:r>
          </a:p>
          <a:p>
            <a:pPr>
              <a:spcAft>
                <a:spcPts val="600"/>
              </a:spcAft>
            </a:pPr>
            <a:r>
              <a:rPr lang="th-TH" sz="2300">
                <a:solidFill>
                  <a:srgbClr val="18294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ความเร่งด่วน </a:t>
            </a:r>
            <a:r>
              <a:rPr lang="en-US" sz="2300">
                <a:solidFill>
                  <a:srgbClr val="18294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Normal</a:t>
            </a:r>
          </a:p>
        </p:txBody>
      </p:sp>
    </p:spTree>
    <p:extLst>
      <p:ext uri="{BB962C8B-B14F-4D97-AF65-F5344CB8AC3E}">
        <p14:creationId xmlns:p14="http://schemas.microsoft.com/office/powerpoint/2010/main" val="1120304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BE2D3B9-98FD-055D-1537-A066B3E05D67}"/>
              </a:ext>
            </a:extLst>
          </p:cNvPr>
          <p:cNvSpPr txBox="1"/>
          <p:nvPr/>
        </p:nvSpPr>
        <p:spPr>
          <a:xfrm>
            <a:off x="508000" y="380999"/>
            <a:ext cx="11176000" cy="990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th-TH" sz="3200" b="1">
                <a:solidFill>
                  <a:srgbClr val="18294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หน้าคิว </a:t>
            </a:r>
            <a:r>
              <a:rPr lang="en-US" sz="3200" b="1">
                <a:solidFill>
                  <a:srgbClr val="18294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Agent </a:t>
            </a:r>
            <a:r>
              <a:rPr lang="th-TH" sz="3200" b="1">
                <a:solidFill>
                  <a:srgbClr val="18294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และการจัดลำดับงาน</a:t>
            </a:r>
            <a:endParaRPr lang="en-US" sz="3200" b="1">
              <a:solidFill>
                <a:srgbClr val="18294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64AF33-434D-DDD4-4B12-A8677DA988DB}"/>
              </a:ext>
            </a:extLst>
          </p:cNvPr>
          <p:cNvSpPr txBox="1"/>
          <p:nvPr/>
        </p:nvSpPr>
        <p:spPr>
          <a:xfrm>
            <a:off x="11239500" y="6451600"/>
            <a:ext cx="4445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sz="1200">
                <a:solidFill>
                  <a:srgbClr val="4F607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09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1BCEEC-3583-5618-5C7C-F51A3EA1B006}"/>
              </a:ext>
            </a:extLst>
          </p:cNvPr>
          <p:cNvSpPr txBox="1"/>
          <p:nvPr/>
        </p:nvSpPr>
        <p:spPr>
          <a:xfrm>
            <a:off x="508000" y="1422399"/>
            <a:ext cx="11176000" cy="508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sz="2200">
                <a:solidFill>
                  <a:srgbClr val="4F607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IT </a:t>
            </a:r>
            <a:r>
              <a:rPr lang="th-TH" sz="2200">
                <a:solidFill>
                  <a:srgbClr val="4F607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เห็นคิว </a:t>
            </a:r>
            <a:r>
              <a:rPr lang="en-US" sz="2200">
                <a:solidFill>
                  <a:srgbClr val="4F607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IT   HR </a:t>
            </a:r>
            <a:r>
              <a:rPr lang="th-TH" sz="2200">
                <a:solidFill>
                  <a:srgbClr val="4F607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เห็นคิว </a:t>
            </a:r>
            <a:r>
              <a:rPr lang="en-US" sz="2200">
                <a:solidFill>
                  <a:srgbClr val="4F607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HR   Backend </a:t>
            </a:r>
            <a:r>
              <a:rPr lang="th-TH" sz="2200">
                <a:solidFill>
                  <a:srgbClr val="4F607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ตรวจฝ่ายจริง</a:t>
            </a:r>
            <a:endParaRPr lang="en-US" sz="2200">
              <a:solidFill>
                <a:srgbClr val="4F6075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Screenshot placeholder: ภาพคิว IT หรือ HR พร้อมปุ่มรับงานและระดับความเร่งด่วน" descr="พื้นที่สำหรับภาพ ภาพคิว IT หรือ HR พร้อมปุ่มรับงานและระดับความเร่งด่วน ผู้ใช้จะเพิ่มภาพจากระบบจริง">
            <a:extLst>
              <a:ext uri="{FF2B5EF4-FFF2-40B4-BE49-F238E27FC236}">
                <a16:creationId xmlns:a16="http://schemas.microsoft.com/office/drawing/2014/main" id="{046248BC-CB00-3BA0-5BD8-0D04054443C8}"/>
              </a:ext>
            </a:extLst>
          </p:cNvPr>
          <p:cNvSpPr txBox="1"/>
          <p:nvPr/>
        </p:nvSpPr>
        <p:spPr>
          <a:xfrm>
            <a:off x="508000" y="2158999"/>
            <a:ext cx="11176000" cy="3352800"/>
          </a:xfrm>
          <a:prstGeom prst="rect">
            <a:avLst/>
          </a:prstGeom>
          <a:solidFill>
            <a:srgbClr val="F3F6FA"/>
          </a:solidFill>
          <a:ln w="15875">
            <a:solidFill>
              <a:srgbClr val="BCCADC"/>
            </a:solidFill>
            <a:prstDash val="dash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Aft>
                <a:spcPts val="600"/>
              </a:spcAft>
            </a:pPr>
            <a:r>
              <a:rPr lang="th-TH" sz="2100">
                <a:solidFill>
                  <a:srgbClr val="4F607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ภาพคิว </a:t>
            </a:r>
            <a:r>
              <a:rPr lang="en-US" sz="2100">
                <a:solidFill>
                  <a:srgbClr val="4F607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IT </a:t>
            </a:r>
            <a:r>
              <a:rPr lang="th-TH" sz="2100">
                <a:solidFill>
                  <a:srgbClr val="4F607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หรือ </a:t>
            </a:r>
            <a:r>
              <a:rPr lang="en-US" sz="2100">
                <a:solidFill>
                  <a:srgbClr val="4F607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HR </a:t>
            </a:r>
            <a:r>
              <a:rPr lang="th-TH" sz="2100">
                <a:solidFill>
                  <a:srgbClr val="4F607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พร้อมปุ่มรับงานและระดับความเร่งด่วน</a:t>
            </a:r>
            <a:endParaRPr lang="en-US" sz="2100">
              <a:solidFill>
                <a:srgbClr val="4F6075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CED6A3-59DF-C7BB-467F-2C979B292FFA}"/>
              </a:ext>
            </a:extLst>
          </p:cNvPr>
          <p:cNvSpPr txBox="1"/>
          <p:nvPr/>
        </p:nvSpPr>
        <p:spPr>
          <a:xfrm>
            <a:off x="508000" y="5778499"/>
            <a:ext cx="11176000" cy="889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sz="2000" b="1">
                <a:solidFill>
                  <a:srgbClr val="286FCD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Agent </a:t>
            </a:r>
            <a:r>
              <a:rPr lang="th-TH" sz="2000" b="1">
                <a:solidFill>
                  <a:srgbClr val="286FCD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ประเมิน </a:t>
            </a:r>
            <a:r>
              <a:rPr lang="en-US" sz="2000" b="1">
                <a:solidFill>
                  <a:srgbClr val="286FCD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Normal / Urgent </a:t>
            </a:r>
            <a:r>
              <a:rPr lang="th-TH" sz="2000" b="1">
                <a:solidFill>
                  <a:srgbClr val="286FCD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และระบบเรียงงานเร่งด่วนก่อน</a:t>
            </a:r>
          </a:p>
          <a:p>
            <a:pPr>
              <a:spcAft>
                <a:spcPts val="600"/>
              </a:spcAft>
            </a:pPr>
            <a:r>
              <a:rPr lang="th-TH" sz="2000" b="1">
                <a:solidFill>
                  <a:srgbClr val="286FCD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รับงานและปิดงานมีการยืนยัน   สถานะ </a:t>
            </a:r>
            <a:r>
              <a:rPr lang="en-US" sz="2000" b="1">
                <a:solidFill>
                  <a:srgbClr val="286FCD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Open, In Progress, Done</a:t>
            </a:r>
          </a:p>
        </p:txBody>
      </p:sp>
    </p:spTree>
    <p:extLst>
      <p:ext uri="{BB962C8B-B14F-4D97-AF65-F5344CB8AC3E}">
        <p14:creationId xmlns:p14="http://schemas.microsoft.com/office/powerpoint/2010/main" val="3793041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C1110D6-CD25-CC96-464A-2B4083978A12}"/>
              </a:ext>
            </a:extLst>
          </p:cNvPr>
          <p:cNvSpPr txBox="1"/>
          <p:nvPr/>
        </p:nvSpPr>
        <p:spPr>
          <a:xfrm>
            <a:off x="508000" y="380999"/>
            <a:ext cx="11176000" cy="990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th-TH" sz="3200" b="1">
                <a:solidFill>
                  <a:srgbClr val="18294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แชทและประวัติใน </a:t>
            </a:r>
            <a:r>
              <a:rPr lang="en-US" sz="3200" b="1">
                <a:solidFill>
                  <a:srgbClr val="18294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Ticket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7DEA00-58ED-3665-FEEC-8D7533D01915}"/>
              </a:ext>
            </a:extLst>
          </p:cNvPr>
          <p:cNvSpPr txBox="1"/>
          <p:nvPr/>
        </p:nvSpPr>
        <p:spPr>
          <a:xfrm>
            <a:off x="11239500" y="6451600"/>
            <a:ext cx="4445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sz="1200">
                <a:solidFill>
                  <a:srgbClr val="4F607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37DD1DB-6B58-92B6-12B2-3D29864ADF9F}"/>
              </a:ext>
            </a:extLst>
          </p:cNvPr>
          <p:cNvSpPr txBox="1"/>
          <p:nvPr/>
        </p:nvSpPr>
        <p:spPr>
          <a:xfrm>
            <a:off x="508000" y="1587499"/>
            <a:ext cx="5461000" cy="444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th-TH" sz="2300" b="1">
                <a:solidFill>
                  <a:srgbClr val="286FCD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บทสนทนา</a:t>
            </a:r>
            <a:endParaRPr lang="en-US" sz="2300" b="1">
              <a:solidFill>
                <a:srgbClr val="286FCD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EBCFA3-2A6A-DFFC-5B67-28D970F32EC1}"/>
              </a:ext>
            </a:extLst>
          </p:cNvPr>
          <p:cNvSpPr txBox="1"/>
          <p:nvPr/>
        </p:nvSpPr>
        <p:spPr>
          <a:xfrm>
            <a:off x="6350000" y="1587499"/>
            <a:ext cx="5334000" cy="444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th-TH" sz="2300" b="1">
                <a:solidFill>
                  <a:srgbClr val="286FCD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ประวัติการดำเนินงาน</a:t>
            </a:r>
            <a:endParaRPr lang="en-US" sz="2300" b="1">
              <a:solidFill>
                <a:srgbClr val="286FCD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Screenshot placeholder: ภาพแชทใน Ticket" descr="พื้นที่สำหรับภาพ ภาพแชทใน Ticket ผู้ใช้จะเพิ่มภาพจากระบบจริง">
            <a:extLst>
              <a:ext uri="{FF2B5EF4-FFF2-40B4-BE49-F238E27FC236}">
                <a16:creationId xmlns:a16="http://schemas.microsoft.com/office/drawing/2014/main" id="{B03388F0-12AA-26EB-E5C4-0CB3A5363288}"/>
              </a:ext>
            </a:extLst>
          </p:cNvPr>
          <p:cNvSpPr txBox="1"/>
          <p:nvPr/>
        </p:nvSpPr>
        <p:spPr>
          <a:xfrm>
            <a:off x="508000" y="2247899"/>
            <a:ext cx="5461000" cy="3302000"/>
          </a:xfrm>
          <a:prstGeom prst="rect">
            <a:avLst/>
          </a:prstGeom>
          <a:solidFill>
            <a:srgbClr val="F3F6FA"/>
          </a:solidFill>
          <a:ln w="15875">
            <a:solidFill>
              <a:srgbClr val="BCCADC"/>
            </a:solidFill>
            <a:prstDash val="dash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Aft>
                <a:spcPts val="600"/>
              </a:spcAft>
            </a:pPr>
            <a:r>
              <a:rPr lang="th-TH" sz="2100">
                <a:solidFill>
                  <a:srgbClr val="4F607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ภาพแชทใน </a:t>
            </a:r>
            <a:r>
              <a:rPr lang="en-US" sz="2100">
                <a:solidFill>
                  <a:srgbClr val="4F607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Ticket</a:t>
            </a:r>
          </a:p>
        </p:txBody>
      </p:sp>
      <p:sp>
        <p:nvSpPr>
          <p:cNvPr id="7" name="Screenshot placeholder: ภาพ Timeline" descr="พื้นที่สำหรับภาพ ภาพ Timeline ผู้ใช้จะเพิ่มภาพจากระบบจริง">
            <a:extLst>
              <a:ext uri="{FF2B5EF4-FFF2-40B4-BE49-F238E27FC236}">
                <a16:creationId xmlns:a16="http://schemas.microsoft.com/office/drawing/2014/main" id="{D372783B-33C1-40BA-FCAA-7EB170FC4B53}"/>
              </a:ext>
            </a:extLst>
          </p:cNvPr>
          <p:cNvSpPr txBox="1"/>
          <p:nvPr/>
        </p:nvSpPr>
        <p:spPr>
          <a:xfrm>
            <a:off x="6350000" y="2247899"/>
            <a:ext cx="5334000" cy="3302000"/>
          </a:xfrm>
          <a:prstGeom prst="rect">
            <a:avLst/>
          </a:prstGeom>
          <a:solidFill>
            <a:srgbClr val="F3F6FA"/>
          </a:solidFill>
          <a:ln w="15875">
            <a:solidFill>
              <a:srgbClr val="BCCADC"/>
            </a:solidFill>
            <a:prstDash val="dash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Aft>
                <a:spcPts val="600"/>
              </a:spcAft>
            </a:pPr>
            <a:r>
              <a:rPr lang="th-TH" sz="2100">
                <a:solidFill>
                  <a:srgbClr val="4F607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ภาพ </a:t>
            </a:r>
            <a:r>
              <a:rPr lang="en-US" sz="2100">
                <a:solidFill>
                  <a:srgbClr val="4F607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Timeline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3FBF8D3-B91B-193D-35E2-58BD5402B14A}"/>
              </a:ext>
            </a:extLst>
          </p:cNvPr>
          <p:cNvSpPr txBox="1"/>
          <p:nvPr/>
        </p:nvSpPr>
        <p:spPr>
          <a:xfrm>
            <a:off x="508000" y="5854699"/>
            <a:ext cx="11176000" cy="812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th-TH" sz="2000">
                <a:solidFill>
                  <a:srgbClr val="4F607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ตัวเลขข้อความที่ยังไม่อ่านอัปเดตประมาณทุก 8 วินาที</a:t>
            </a:r>
          </a:p>
          <a:p>
            <a:pPr>
              <a:spcAft>
                <a:spcPts val="600"/>
              </a:spcAft>
            </a:pPr>
            <a:r>
              <a:rPr lang="th-TH" sz="2000">
                <a:solidFill>
                  <a:srgbClr val="4F607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ประวัติเก็บผู้เปลี่ยน ค่าเดิม ค่าใหม่ และเวลา</a:t>
            </a:r>
            <a:endParaRPr lang="en-US" sz="2000">
              <a:solidFill>
                <a:srgbClr val="4F6075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39319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8C698BD-DFED-77D0-8DEF-76D083968FA0}"/>
              </a:ext>
            </a:extLst>
          </p:cNvPr>
          <p:cNvSpPr txBox="1"/>
          <p:nvPr/>
        </p:nvSpPr>
        <p:spPr>
          <a:xfrm>
            <a:off x="508000" y="380999"/>
            <a:ext cx="11176000" cy="990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th-TH" sz="3200" b="1">
                <a:solidFill>
                  <a:srgbClr val="18294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หน้า </a:t>
            </a:r>
            <a:r>
              <a:rPr lang="en-US" sz="3200" b="1">
                <a:solidFill>
                  <a:srgbClr val="18294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Admin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7BAC65-3B50-8BD5-AB92-89CF6D079E58}"/>
              </a:ext>
            </a:extLst>
          </p:cNvPr>
          <p:cNvSpPr txBox="1"/>
          <p:nvPr/>
        </p:nvSpPr>
        <p:spPr>
          <a:xfrm>
            <a:off x="11239500" y="6451600"/>
            <a:ext cx="4445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sz="1200">
                <a:solidFill>
                  <a:srgbClr val="4F607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7D2111-BE92-6F7C-296A-AFCA25A192F6}"/>
              </a:ext>
            </a:extLst>
          </p:cNvPr>
          <p:cNvSpPr txBox="1"/>
          <p:nvPr/>
        </p:nvSpPr>
        <p:spPr>
          <a:xfrm>
            <a:off x="508000" y="1422399"/>
            <a:ext cx="11176000" cy="508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th-TH" sz="2200">
                <a:solidFill>
                  <a:srgbClr val="4F607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ภาพรวมทุกฝ่าย พร้อมตัวกรอง </a:t>
            </a:r>
            <a:r>
              <a:rPr lang="en-US" sz="2200">
                <a:solidFill>
                  <a:srgbClr val="4F607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IT </a:t>
            </a:r>
            <a:r>
              <a:rPr lang="th-TH" sz="2200">
                <a:solidFill>
                  <a:srgbClr val="4F607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และ </a:t>
            </a:r>
            <a:r>
              <a:rPr lang="en-US" sz="2200">
                <a:solidFill>
                  <a:srgbClr val="4F607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HR</a:t>
            </a:r>
          </a:p>
        </p:txBody>
      </p:sp>
      <p:sp>
        <p:nvSpPr>
          <p:cNvPr id="5" name="Screenshot placeholder: ภาพหน้าภาพรวมของ Admin" descr="พื้นที่สำหรับภาพ ภาพหน้าภาพรวมของ Admin ผู้ใช้จะเพิ่มภาพจากระบบจริง">
            <a:extLst>
              <a:ext uri="{FF2B5EF4-FFF2-40B4-BE49-F238E27FC236}">
                <a16:creationId xmlns:a16="http://schemas.microsoft.com/office/drawing/2014/main" id="{5CB5AB09-C6D3-5A9E-4AB3-ECEAAF83DF80}"/>
              </a:ext>
            </a:extLst>
          </p:cNvPr>
          <p:cNvSpPr txBox="1"/>
          <p:nvPr/>
        </p:nvSpPr>
        <p:spPr>
          <a:xfrm>
            <a:off x="508000" y="2158999"/>
            <a:ext cx="11176000" cy="3632200"/>
          </a:xfrm>
          <a:prstGeom prst="rect">
            <a:avLst/>
          </a:prstGeom>
          <a:solidFill>
            <a:srgbClr val="F3F6FA"/>
          </a:solidFill>
          <a:ln w="15875">
            <a:solidFill>
              <a:srgbClr val="BCCADC"/>
            </a:solidFill>
            <a:prstDash val="dash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Aft>
                <a:spcPts val="600"/>
              </a:spcAft>
            </a:pPr>
            <a:r>
              <a:rPr lang="th-TH" sz="2100">
                <a:solidFill>
                  <a:srgbClr val="4F607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ภาพหน้าภาพรวมของ </a:t>
            </a:r>
            <a:r>
              <a:rPr lang="en-US" sz="2100">
                <a:solidFill>
                  <a:srgbClr val="4F607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Admin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487079-457A-4771-05B2-CEF9B9EE7970}"/>
              </a:ext>
            </a:extLst>
          </p:cNvPr>
          <p:cNvSpPr txBox="1"/>
          <p:nvPr/>
        </p:nvSpPr>
        <p:spPr>
          <a:xfrm>
            <a:off x="508000" y="6032499"/>
            <a:ext cx="11176000" cy="444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th-TH" sz="2000" b="1">
                <a:solidFill>
                  <a:srgbClr val="286FCD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ดูทุก </a:t>
            </a:r>
            <a:r>
              <a:rPr lang="en-US" sz="2000" b="1">
                <a:solidFill>
                  <a:srgbClr val="286FCD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Ticket   </a:t>
            </a:r>
            <a:r>
              <a:rPr lang="th-TH" sz="2000" b="1">
                <a:solidFill>
                  <a:srgbClr val="286FCD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จัดลำดับข้ามฝ่าย   ตรวจประวัติผู้ดำเนินการ</a:t>
            </a:r>
            <a:endParaRPr lang="en-US" sz="2000" b="1">
              <a:solidFill>
                <a:srgbClr val="286FCD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16576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E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625A29E-07ED-1449-07C1-3B6CB5F7CC10}"/>
              </a:ext>
            </a:extLst>
          </p:cNvPr>
          <p:cNvSpPr txBox="1"/>
          <p:nvPr/>
        </p:nvSpPr>
        <p:spPr>
          <a:xfrm>
            <a:off x="508000" y="380999"/>
            <a:ext cx="11176000" cy="990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th-TH" sz="3200" b="1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เดโมหลักและสถานะ </a:t>
            </a:r>
            <a:r>
              <a:rPr lang="en-US" sz="3200" b="1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Sprint 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067881-1B1E-AB07-FA7F-CAD29D9BAA69}"/>
              </a:ext>
            </a:extLst>
          </p:cNvPr>
          <p:cNvSpPr txBox="1"/>
          <p:nvPr/>
        </p:nvSpPr>
        <p:spPr>
          <a:xfrm>
            <a:off x="11239500" y="6451600"/>
            <a:ext cx="4445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sz="1200">
                <a:solidFill>
                  <a:srgbClr val="BCCAD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642494-67A1-358F-8695-47E72F562D55}"/>
              </a:ext>
            </a:extLst>
          </p:cNvPr>
          <p:cNvSpPr txBox="1"/>
          <p:nvPr/>
        </p:nvSpPr>
        <p:spPr>
          <a:xfrm>
            <a:off x="508000" y="1841499"/>
            <a:ext cx="5080000" cy="508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th-TH" sz="2500" b="1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เดโมต่อเนื่อง</a:t>
            </a:r>
            <a:endParaRPr lang="en-US" sz="2500" b="1">
              <a:solidFill>
                <a:srgbClr val="FFFFFF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175CAD-48FF-5F7D-A6E3-FBC9E08DCDD2}"/>
              </a:ext>
            </a:extLst>
          </p:cNvPr>
          <p:cNvSpPr txBox="1"/>
          <p:nvPr/>
        </p:nvSpPr>
        <p:spPr>
          <a:xfrm>
            <a:off x="508000" y="2666999"/>
            <a:ext cx="5334000" cy="281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sz="230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1. Employee </a:t>
            </a:r>
            <a:r>
              <a:rPr lang="th-TH" sz="230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สร้าง </a:t>
            </a:r>
            <a:r>
              <a:rPr lang="en-US" sz="230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Ticket IT</a:t>
            </a:r>
          </a:p>
          <a:p>
            <a:pPr>
              <a:spcAft>
                <a:spcPts val="600"/>
              </a:spcAft>
            </a:pPr>
            <a:r>
              <a:rPr lang="en-US" sz="230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2. IT Agent </a:t>
            </a:r>
            <a:r>
              <a:rPr lang="th-TH" sz="230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รับงานและตอบกลับ</a:t>
            </a:r>
          </a:p>
          <a:p>
            <a:pPr>
              <a:spcAft>
                <a:spcPts val="600"/>
              </a:spcAft>
            </a:pPr>
            <a:r>
              <a:rPr lang="th-TH" sz="230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3. </a:t>
            </a:r>
            <a:r>
              <a:rPr lang="en-US" sz="230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Employee </a:t>
            </a:r>
            <a:r>
              <a:rPr lang="th-TH" sz="230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เห็นความคืบหน้า</a:t>
            </a:r>
          </a:p>
          <a:p>
            <a:pPr>
              <a:spcAft>
                <a:spcPts val="600"/>
              </a:spcAft>
            </a:pPr>
            <a:r>
              <a:rPr lang="th-TH" sz="230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4. </a:t>
            </a:r>
            <a:r>
              <a:rPr lang="en-US" sz="230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HR Agent </a:t>
            </a:r>
            <a:r>
              <a:rPr lang="th-TH" sz="230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ไม่เห็นงาน </a:t>
            </a:r>
            <a:r>
              <a:rPr lang="en-US" sz="230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2997B9-7CA9-CFC4-51B8-6AFEDCA68895}"/>
              </a:ext>
            </a:extLst>
          </p:cNvPr>
          <p:cNvSpPr txBox="1"/>
          <p:nvPr/>
        </p:nvSpPr>
        <p:spPr>
          <a:xfrm>
            <a:off x="6604000" y="1841499"/>
            <a:ext cx="5080000" cy="508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th-TH" sz="2500" b="1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สถานะส่งมอบ</a:t>
            </a:r>
            <a:endParaRPr lang="en-US" sz="2500" b="1">
              <a:solidFill>
                <a:srgbClr val="FFFFFF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FC0715-A81B-E963-FBA2-3A5074677174}"/>
              </a:ext>
            </a:extLst>
          </p:cNvPr>
          <p:cNvSpPr txBox="1"/>
          <p:nvPr/>
        </p:nvSpPr>
        <p:spPr>
          <a:xfrm>
            <a:off x="6604000" y="2666999"/>
            <a:ext cx="5080000" cy="281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th-TH" sz="230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ระบบรันบน </a:t>
            </a:r>
            <a:r>
              <a:rPr lang="en-US" sz="230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Docker Compose</a:t>
            </a:r>
          </a:p>
          <a:p>
            <a:pPr>
              <a:spcAft>
                <a:spcPts val="600"/>
              </a:spcAft>
            </a:pPr>
            <a:r>
              <a:rPr lang="th-TH" sz="230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มีชุดทดสอบกฎและสิทธิ์</a:t>
            </a:r>
          </a:p>
          <a:p>
            <a:pPr>
              <a:spcAft>
                <a:spcPts val="600"/>
              </a:spcAft>
            </a:pPr>
            <a:r>
              <a:rPr lang="en-US" sz="230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Terraform </a:t>
            </a:r>
            <a:r>
              <a:rPr lang="th-TH" sz="230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พร้อมให้ปรับใช้</a:t>
            </a:r>
          </a:p>
          <a:p>
            <a:pPr>
              <a:spcAft>
                <a:spcPts val="600"/>
              </a:spcAft>
            </a:pPr>
            <a:r>
              <a:rPr lang="en-US" sz="230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AWS </a:t>
            </a:r>
            <a:r>
              <a:rPr lang="th-TH" sz="230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ยังไม่ได้ </a:t>
            </a:r>
            <a:r>
              <a:rPr lang="en-US" sz="230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deploy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1AA1557-C2E2-1906-9223-26E5F89A1CE7}"/>
              </a:ext>
            </a:extLst>
          </p:cNvPr>
          <p:cNvSpPr txBox="1"/>
          <p:nvPr/>
        </p:nvSpPr>
        <p:spPr>
          <a:xfrm>
            <a:off x="508000" y="5905499"/>
            <a:ext cx="11176000" cy="609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600"/>
              </a:spcAft>
            </a:pPr>
            <a:r>
              <a:rPr lang="th-TH" sz="1900">
                <a:solidFill>
                  <a:srgbClr val="BCCAD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พัฒนาต่อ: ไฟล์แนบ   มอบหมาย </a:t>
            </a:r>
            <a:r>
              <a:rPr lang="en-US" sz="1900">
                <a:solidFill>
                  <a:srgbClr val="BCCAD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Agent </a:t>
            </a:r>
            <a:r>
              <a:rPr lang="th-TH" sz="1900">
                <a:solidFill>
                  <a:srgbClr val="BCCAD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รายบุคคล   </a:t>
            </a:r>
            <a:r>
              <a:rPr lang="en-US" sz="1900">
                <a:solidFill>
                  <a:srgbClr val="BCCAD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Push notification</a:t>
            </a:r>
          </a:p>
        </p:txBody>
      </p:sp>
    </p:spTree>
    <p:extLst>
      <p:ext uri="{BB962C8B-B14F-4D97-AF65-F5344CB8AC3E}">
        <p14:creationId xmlns:p14="http://schemas.microsoft.com/office/powerpoint/2010/main" val="8593546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2037</Words>
  <Application>Microsoft Office PowerPoint</Application>
  <PresentationFormat>Custom</PresentationFormat>
  <Paragraphs>184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Tahoma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ANUPONG PONGPISITSAN</dc:creator>
  <cp:lastModifiedBy>ANUPONG PONGPISITSAN</cp:lastModifiedBy>
  <cp:revision>1</cp:revision>
  <dcterms:created xsi:type="dcterms:W3CDTF">2026-10-02T06:10:19Z</dcterms:created>
  <dcterms:modified xsi:type="dcterms:W3CDTF">2026-10-02T06:10:19Z</dcterms:modified>
</cp:coreProperties>
</file>