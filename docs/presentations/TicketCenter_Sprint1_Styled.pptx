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596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BFC1BE-B8DE-4609-B4A3-6131B11A247E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B769FD-8EDF-407A-90C5-141C7E604F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854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เวลาแนะนำ: 20 วินาที</a:t>
            </a:r>
          </a:p>
          <a:p>
            <a:endParaRPr lang="th-TH"/>
          </a:p>
          <a:p>
            <a:r>
              <a:rPr lang="th-TH"/>
              <a:t>สวัสดีครับ วันนี้กลุ่มของเรานำเสนอ </a:t>
            </a:r>
            <a:r>
              <a:rPr lang="en-US"/>
              <a:t>TicketCenter </a:t>
            </a:r>
            <a:r>
              <a:rPr lang="th-TH"/>
              <a:t>ระบบจัดการคำขอบริการภายในองค์กร ใน </a:t>
            </a:r>
            <a:r>
              <a:rPr lang="en-US"/>
              <a:t>Sprint 1 </a:t>
            </a:r>
            <a:r>
              <a:rPr lang="th-TH"/>
              <a:t>เราเน้นการรันระบบ </a:t>
            </a:r>
            <a:r>
              <a:rPr lang="en-US"/>
              <a:t>Infrastructure </a:t>
            </a:r>
            <a:r>
              <a:rPr lang="th-TH"/>
              <a:t>การควบคุมสิทธิ์และความปลอดภัย และฟีเจอร์ที่ผู้ใช้ใช้งานได้จริง ใช้เวลาประมาณ 10 นาทีครับ</a:t>
            </a:r>
          </a:p>
          <a:p>
            <a:endParaRPr lang="th-TH"/>
          </a:p>
          <a:p>
            <a:r>
              <a:rPr lang="th-TH"/>
              <a:t>แหล่งข้อมูลโครงการ:</a:t>
            </a:r>
          </a:p>
          <a:p>
            <a:r>
              <a:rPr lang="en-US"/>
              <a:t>README.md</a:t>
            </a:r>
          </a:p>
          <a:p>
            <a:endParaRPr lang="en-US"/>
          </a:p>
          <a:p>
            <a:r>
              <a:rPr lang="th-TH"/>
              <a:t>ภาพประกอบ: หน้าจอจริงที่บันทึกด้วย </a:t>
            </a:r>
            <a:r>
              <a:rPr lang="en-US"/>
              <a:t>Computer Use </a:t>
            </a:r>
            <a:r>
              <a:rPr lang="th-TH"/>
              <a:t>จาก </a:t>
            </a:r>
            <a:r>
              <a:rPr lang="en-US"/>
              <a:t>https://localhost </a:t>
            </a:r>
            <a:r>
              <a:rPr lang="th-TH"/>
              <a:t>และ </a:t>
            </a:r>
            <a:r>
              <a:rPr lang="en-US"/>
              <a:t>Docker Desktop </a:t>
            </a:r>
            <a:r>
              <a:rPr lang="th-TH"/>
              <a:t>เมื่อ 2 ตุลาคม 2569 ตัวเลขเป็นข้อมูลเดโม ณ เวลาบันทึกภาพ</a:t>
            </a:r>
          </a:p>
          <a:p>
            <a:r>
              <a:rPr lang="th-TH"/>
              <a:t>พื้นหลังตกแต่ง: ภาพ </a:t>
            </a:r>
            <a:r>
              <a:rPr lang="en-US"/>
              <a:t>abstract </a:t>
            </a:r>
            <a:r>
              <a:rPr lang="th-TH"/>
              <a:t>ที่สร้างด้วย </a:t>
            </a:r>
            <a:r>
              <a:rPr lang="en-US"/>
              <a:t>imagegen </a:t>
            </a:r>
            <a:r>
              <a:rPr lang="th-TH"/>
              <a:t>ไม่มีข้อมูลทางเทคนิคหรือหลักฐานระบบอยู่ในภาพพื้นหลัง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769FD-8EDF-407A-90C5-141C7E604FE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44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เวลาแนะนำ: 40 วินาที</a:t>
            </a:r>
          </a:p>
          <a:p>
            <a:endParaRPr lang="th-TH"/>
          </a:p>
          <a:p>
            <a:r>
              <a:rPr lang="th-TH"/>
              <a:t>ตัวอย่างคือพนักงานเปิดคอมพิวเตอร์ไม่ได้และต้องการให้ </a:t>
            </a:r>
            <a:r>
              <a:rPr lang="en-US"/>
              <a:t>IT </a:t>
            </a:r>
            <a:r>
              <a:rPr lang="th-TH"/>
              <a:t>ช่วย ถ้าส่งเรื่องหลายช่องทาง ผู้แจ้งจะไม่รู้ว่าทีมรับเรื่องแล้วหรือยังและต้องถามความคืบหน้าซ้ำ </a:t>
            </a:r>
            <a:r>
              <a:rPr lang="en-US"/>
              <a:t>TicketCenter </a:t>
            </a:r>
            <a:r>
              <a:rPr lang="th-TH"/>
              <a:t>เก็บคำขอเป็น </a:t>
            </a:r>
            <a:r>
              <a:rPr lang="en-US"/>
              <a:t>Ticket </a:t>
            </a:r>
            <a:r>
              <a:rPr lang="th-TH"/>
              <a:t>หนึ่งใบ ระบุฝ่ายรับผิดชอบ สถานะ บทสนทนา และประวัติไว้ด้วยกัน พนักงานส่งข้อมูลผลกระทบ ส่วนเจ้าหน้าที่ประเมินความเร่งด่วนเพื่อจัดลำดับงาน เป้าหมายของ </a:t>
            </a:r>
            <a:r>
              <a:rPr lang="en-US"/>
              <a:t>MVP </a:t>
            </a:r>
            <a:r>
              <a:rPr lang="th-TH"/>
              <a:t>คือให้เส้นทางตั้งแต่แจ้งปัญหาจนงานเสร็จใช้งานได้จริง</a:t>
            </a:r>
          </a:p>
          <a:p>
            <a:endParaRPr lang="th-TH"/>
          </a:p>
          <a:p>
            <a:r>
              <a:rPr lang="th-TH"/>
              <a:t>แหล่งข้อมูลโครงการ:</a:t>
            </a:r>
          </a:p>
          <a:p>
            <a:r>
              <a:rPr lang="en-US"/>
              <a:t>README.md; docs/ticketcenter-flows.md</a:t>
            </a:r>
          </a:p>
          <a:p>
            <a:r>
              <a:rPr lang="th-TH"/>
              <a:t>พื้นหลังตกแต่ง: ภาพ </a:t>
            </a:r>
            <a:r>
              <a:rPr lang="en-US"/>
              <a:t>abstract </a:t>
            </a:r>
            <a:r>
              <a:rPr lang="th-TH"/>
              <a:t>ที่สร้างด้วย </a:t>
            </a:r>
            <a:r>
              <a:rPr lang="en-US"/>
              <a:t>imagegen </a:t>
            </a:r>
            <a:r>
              <a:rPr lang="th-TH"/>
              <a:t>ไม่มีข้อมูลทางเทคนิคหรือหลักฐานระบบอยู่ในภาพพื้นหลัง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769FD-8EDF-407A-90C5-141C7E604FE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8490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เวลาแนะนำ: 60 วินาที</a:t>
            </a:r>
          </a:p>
          <a:p>
            <a:endParaRPr lang="th-TH"/>
          </a:p>
          <a:p>
            <a:r>
              <a:rPr lang="th-TH"/>
              <a:t>ระบบที่เดโมในวันนี้เปิดด้วย </a:t>
            </a:r>
            <a:r>
              <a:rPr lang="en-US"/>
              <a:t>Docker Compose </a:t>
            </a:r>
            <a:r>
              <a:rPr lang="th-TH"/>
              <a:t>บนเครื่อง มีบริการ </a:t>
            </a:r>
            <a:r>
              <a:rPr lang="en-US"/>
              <a:t>web, api </a:t>
            </a:r>
            <a:r>
              <a:rPr lang="th-TH"/>
              <a:t>และ </a:t>
            </a:r>
            <a:r>
              <a:rPr lang="en-US"/>
              <a:t>db </a:t>
            </a:r>
            <a:r>
              <a:rPr lang="th-TH"/>
              <a:t>โดย </a:t>
            </a:r>
            <a:r>
              <a:rPr lang="en-US"/>
              <a:t>React </a:t>
            </a:r>
            <a:r>
              <a:rPr lang="th-TH"/>
              <a:t>สร้างหน้าจอให้ผู้ใช้กดและดูข้อมูล </a:t>
            </a:r>
            <a:r>
              <a:rPr lang="en-US"/>
              <a:t>Vite </a:t>
            </a:r>
            <a:r>
              <a:rPr lang="th-TH"/>
              <a:t>เตรียมโค้ด </a:t>
            </a:r>
            <a:r>
              <a:rPr lang="en-US"/>
              <a:t>React </a:t>
            </a:r>
            <a:r>
              <a:rPr lang="th-TH"/>
              <a:t>เป็นไฟล์เว็บ </a:t>
            </a:r>
            <a:r>
              <a:rPr lang="en-US"/>
              <a:t>Nginx </a:t>
            </a:r>
            <a:r>
              <a:rPr lang="th-TH"/>
              <a:t>ส่งไฟล์เว็บให้ </a:t>
            </a:r>
            <a:r>
              <a:rPr lang="en-US"/>
              <a:t>Browser </a:t>
            </a:r>
            <a:r>
              <a:rPr lang="th-TH"/>
              <a:t>และรับคำขอที่ขึ้นต้นด้วย /</a:t>
            </a:r>
            <a:r>
              <a:rPr lang="en-US"/>
              <a:t>api </a:t>
            </a:r>
            <a:r>
              <a:rPr lang="th-TH"/>
              <a:t>เพื่อส่งต่อไป </a:t>
            </a:r>
            <a:r>
              <a:rPr lang="en-US"/>
              <a:t>FastAPI FastAPI </a:t>
            </a:r>
            <a:r>
              <a:rPr lang="th-TH"/>
              <a:t>ตรวจข้อมูล ตรวจสิทธิ์ และประมวลผลคำขอ </a:t>
            </a:r>
            <a:r>
              <a:rPr lang="en-US"/>
              <a:t>PostgreSQL </a:t>
            </a:r>
            <a:r>
              <a:rPr lang="th-TH"/>
              <a:t>เก็บข้อมูลจริงเป็นตาราง เช่น ผู้ใช้ </a:t>
            </a:r>
            <a:r>
              <a:rPr lang="en-US"/>
              <a:t>Ticket </a:t>
            </a:r>
            <a:r>
              <a:rPr lang="th-TH"/>
              <a:t>แชทและประวัติ ข้อมูลระหว่าง </a:t>
            </a:r>
            <a:r>
              <a:rPr lang="en-US"/>
              <a:t>Browser </a:t>
            </a:r>
            <a:r>
              <a:rPr lang="th-TH"/>
              <a:t>กับ </a:t>
            </a:r>
            <a:r>
              <a:rPr lang="en-US"/>
              <a:t>API </a:t>
            </a:r>
            <a:r>
              <a:rPr lang="th-TH"/>
              <a:t>อยู่ในรูปแบบ </a:t>
            </a:r>
            <a:r>
              <a:rPr lang="en-US"/>
              <a:t>JSON </a:t>
            </a:r>
            <a:r>
              <a:rPr lang="th-TH"/>
              <a:t>ส่วน </a:t>
            </a:r>
            <a:r>
              <a:rPr lang="en-US"/>
              <a:t>Docker Compose </a:t>
            </a:r>
            <a:r>
              <a:rPr lang="th-TH"/>
              <a:t>ช่วยให้เราเปิดทั้งสามบริการพร้อมกันได้ </a:t>
            </a:r>
            <a:r>
              <a:rPr lang="en-US"/>
              <a:t>SQLAlchemy </a:t>
            </a:r>
            <a:r>
              <a:rPr lang="th-TH"/>
              <a:t>ช่วยโค้ด </a:t>
            </a:r>
            <a:r>
              <a:rPr lang="en-US"/>
              <a:t>Python </a:t>
            </a:r>
            <a:r>
              <a:rPr lang="th-TH"/>
              <a:t>ติดต่อฐานข้อมูล และ </a:t>
            </a:r>
            <a:r>
              <a:rPr lang="en-US"/>
              <a:t>Alembic </a:t>
            </a:r>
            <a:r>
              <a:rPr lang="th-TH"/>
              <a:t>จัดการการเปลี่ยนโครงสร้างตารางตามเวอร์ชัน</a:t>
            </a:r>
          </a:p>
          <a:p>
            <a:endParaRPr lang="th-TH"/>
          </a:p>
          <a:p>
            <a:r>
              <a:rPr lang="th-TH"/>
              <a:t>แหล่งข้อมูลโครงการ:</a:t>
            </a:r>
          </a:p>
          <a:p>
            <a:r>
              <a:rPr lang="en-US"/>
              <a:t>compose.yaml; frontend/Dockerfile; frontend/nginx.conf; backend/app/main.py; backend/app/models.py; backend/alembic/versions/</a:t>
            </a:r>
          </a:p>
          <a:p>
            <a:endParaRPr lang="en-US"/>
          </a:p>
          <a:p>
            <a:r>
              <a:rPr lang="th-TH"/>
              <a:t>ภาพประกอบ: หน้าจอจริงที่บันทึกด้วย </a:t>
            </a:r>
            <a:r>
              <a:rPr lang="en-US"/>
              <a:t>Computer Use </a:t>
            </a:r>
            <a:r>
              <a:rPr lang="th-TH"/>
              <a:t>จาก </a:t>
            </a:r>
            <a:r>
              <a:rPr lang="en-US"/>
              <a:t>https://localhost </a:t>
            </a:r>
            <a:r>
              <a:rPr lang="th-TH"/>
              <a:t>และ </a:t>
            </a:r>
            <a:r>
              <a:rPr lang="en-US"/>
              <a:t>Docker Desktop </a:t>
            </a:r>
            <a:r>
              <a:rPr lang="th-TH"/>
              <a:t>เมื่อ 2 ตุลาคม 2569 ตัวเลขเป็นข้อมูลเดโม ณ เวลาบันทึกภาพ</a:t>
            </a:r>
          </a:p>
          <a:p>
            <a:r>
              <a:rPr lang="th-TH"/>
              <a:t>พื้นหลังตกแต่ง: ภาพ </a:t>
            </a:r>
            <a:r>
              <a:rPr lang="en-US"/>
              <a:t>abstract </a:t>
            </a:r>
            <a:r>
              <a:rPr lang="th-TH"/>
              <a:t>ที่สร้างด้วย </a:t>
            </a:r>
            <a:r>
              <a:rPr lang="en-US"/>
              <a:t>imagegen </a:t>
            </a:r>
            <a:r>
              <a:rPr lang="th-TH"/>
              <a:t>ไม่มีข้อมูลทางเทคนิคหรือหลักฐานระบบอยู่ในภาพพื้นหลัง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769FD-8EDF-407A-90C5-141C7E604FE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143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B5E81-5985-32DE-F847-9AE71AEC2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B570D-570A-5F76-BDFD-88E1B01F3E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EB8D73-DBB2-5BEC-F857-90A187D3EA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dirty="0"/>
              <a:t>เวลาแนะนำ: 60 วินาที</a:t>
            </a:r>
          </a:p>
          <a:p>
            <a:endParaRPr lang="th-TH" dirty="0"/>
          </a:p>
          <a:p>
            <a:r>
              <a:rPr lang="th-TH" dirty="0"/>
              <a:t>ระบบที่เดโมในวันนี้เปิดด้วย </a:t>
            </a:r>
            <a:r>
              <a:rPr lang="en-US" dirty="0"/>
              <a:t>Docker Compose </a:t>
            </a:r>
            <a:r>
              <a:rPr lang="th-TH" dirty="0"/>
              <a:t>บนเครื่อง มีบริการ </a:t>
            </a:r>
            <a:r>
              <a:rPr lang="en-US" dirty="0"/>
              <a:t>web, </a:t>
            </a:r>
            <a:r>
              <a:rPr lang="en-US" dirty="0" err="1"/>
              <a:t>api</a:t>
            </a:r>
            <a:r>
              <a:rPr lang="en-US" dirty="0"/>
              <a:t> </a:t>
            </a:r>
            <a:r>
              <a:rPr lang="th-TH" dirty="0"/>
              <a:t>และ </a:t>
            </a:r>
            <a:r>
              <a:rPr lang="en-US" dirty="0" err="1"/>
              <a:t>db</a:t>
            </a:r>
            <a:r>
              <a:rPr lang="en-US" dirty="0"/>
              <a:t> </a:t>
            </a:r>
            <a:r>
              <a:rPr lang="th-TH" dirty="0"/>
              <a:t>โดย </a:t>
            </a:r>
            <a:r>
              <a:rPr lang="en-US" dirty="0"/>
              <a:t>React </a:t>
            </a:r>
            <a:r>
              <a:rPr lang="th-TH" dirty="0"/>
              <a:t>สร้างหน้าจอให้ผู้ใช้กดและดูข้อมูล </a:t>
            </a:r>
            <a:r>
              <a:rPr lang="en-US" dirty="0"/>
              <a:t>Vite </a:t>
            </a:r>
            <a:r>
              <a:rPr lang="th-TH" dirty="0"/>
              <a:t>เตรียมโค้ด </a:t>
            </a:r>
            <a:r>
              <a:rPr lang="en-US" dirty="0"/>
              <a:t>React </a:t>
            </a:r>
            <a:r>
              <a:rPr lang="th-TH" dirty="0"/>
              <a:t>เป็นไฟล์เว็บ </a:t>
            </a:r>
            <a:r>
              <a:rPr lang="en-US" dirty="0"/>
              <a:t>Nginx </a:t>
            </a:r>
            <a:r>
              <a:rPr lang="th-TH" dirty="0"/>
              <a:t>ส่งไฟล์เว็บให้ </a:t>
            </a:r>
            <a:r>
              <a:rPr lang="en-US" dirty="0"/>
              <a:t>Browser </a:t>
            </a:r>
            <a:r>
              <a:rPr lang="th-TH" dirty="0"/>
              <a:t>และรับคำขอที่ขึ้นต้นด้วย /</a:t>
            </a:r>
            <a:r>
              <a:rPr lang="en-US" dirty="0" err="1"/>
              <a:t>api</a:t>
            </a:r>
            <a:r>
              <a:rPr lang="en-US" dirty="0"/>
              <a:t> </a:t>
            </a:r>
            <a:r>
              <a:rPr lang="th-TH" dirty="0"/>
              <a:t>เพื่อส่งต่อไป </a:t>
            </a:r>
            <a:r>
              <a:rPr lang="en-US" dirty="0" err="1"/>
              <a:t>FastAPI</a:t>
            </a:r>
            <a:r>
              <a:rPr lang="en-US" dirty="0"/>
              <a:t> </a:t>
            </a:r>
            <a:r>
              <a:rPr lang="en-US" dirty="0" err="1"/>
              <a:t>FastAPI</a:t>
            </a:r>
            <a:r>
              <a:rPr lang="en-US" dirty="0"/>
              <a:t> </a:t>
            </a:r>
            <a:r>
              <a:rPr lang="th-TH" dirty="0"/>
              <a:t>ตรวจข้อมูล ตรวจสิทธิ์ และประมวลผลคำขอ </a:t>
            </a:r>
            <a:r>
              <a:rPr lang="en-US" dirty="0"/>
              <a:t>PostgreSQL </a:t>
            </a:r>
            <a:r>
              <a:rPr lang="th-TH" dirty="0"/>
              <a:t>เก็บข้อมูลจริงเป็นตาราง เช่น ผู้ใช้ </a:t>
            </a:r>
            <a:r>
              <a:rPr lang="en-US" dirty="0"/>
              <a:t>Ticket </a:t>
            </a:r>
            <a:r>
              <a:rPr lang="th-TH" dirty="0"/>
              <a:t>แชทและประวัติ ข้อมูลระหว่าง </a:t>
            </a:r>
            <a:r>
              <a:rPr lang="en-US" dirty="0"/>
              <a:t>Browser </a:t>
            </a:r>
            <a:r>
              <a:rPr lang="th-TH" dirty="0"/>
              <a:t>กับ </a:t>
            </a:r>
            <a:r>
              <a:rPr lang="en-US" dirty="0"/>
              <a:t>API </a:t>
            </a:r>
            <a:r>
              <a:rPr lang="th-TH" dirty="0"/>
              <a:t>อยู่ในรูปแบบ </a:t>
            </a:r>
            <a:r>
              <a:rPr lang="en-US" dirty="0"/>
              <a:t>JSON </a:t>
            </a:r>
            <a:r>
              <a:rPr lang="th-TH" dirty="0"/>
              <a:t>ส่วน </a:t>
            </a:r>
            <a:r>
              <a:rPr lang="en-US" dirty="0"/>
              <a:t>Docker Compose </a:t>
            </a:r>
            <a:r>
              <a:rPr lang="th-TH" dirty="0"/>
              <a:t>ช่วยให้เราเปิดทั้งสามบริการพร้อมกันได้ </a:t>
            </a:r>
            <a:r>
              <a:rPr lang="en-US" dirty="0" err="1"/>
              <a:t>SQLAlchemy</a:t>
            </a:r>
            <a:r>
              <a:rPr lang="en-US" dirty="0"/>
              <a:t> </a:t>
            </a:r>
            <a:r>
              <a:rPr lang="th-TH" dirty="0"/>
              <a:t>ช่วยโค้ด </a:t>
            </a:r>
            <a:r>
              <a:rPr lang="en-US" dirty="0"/>
              <a:t>Python </a:t>
            </a:r>
            <a:r>
              <a:rPr lang="th-TH" dirty="0"/>
              <a:t>ติดต่อฐานข้อมูล และ </a:t>
            </a:r>
            <a:r>
              <a:rPr lang="en-US" dirty="0"/>
              <a:t>Alembic </a:t>
            </a:r>
            <a:r>
              <a:rPr lang="th-TH" dirty="0"/>
              <a:t>จัดการการเปลี่ยนโครงสร้างตารางตามเวอร์ชัน</a:t>
            </a:r>
          </a:p>
          <a:p>
            <a:endParaRPr lang="th-TH" dirty="0"/>
          </a:p>
          <a:p>
            <a:r>
              <a:rPr lang="th-TH" dirty="0"/>
              <a:t>แหล่งข้อมูลโครงการ:</a:t>
            </a:r>
          </a:p>
          <a:p>
            <a:r>
              <a:rPr lang="en-US" dirty="0" err="1"/>
              <a:t>compose.yaml</a:t>
            </a:r>
            <a:r>
              <a:rPr lang="en-US" dirty="0"/>
              <a:t>; frontend/</a:t>
            </a:r>
            <a:r>
              <a:rPr lang="en-US" dirty="0" err="1"/>
              <a:t>Dockerfile</a:t>
            </a:r>
            <a:r>
              <a:rPr lang="en-US" dirty="0"/>
              <a:t>; frontend/</a:t>
            </a:r>
            <a:r>
              <a:rPr lang="en-US" dirty="0" err="1"/>
              <a:t>nginx.conf</a:t>
            </a:r>
            <a:r>
              <a:rPr lang="en-US" dirty="0"/>
              <a:t>; backend/app/main.py; backend/app/models.py; backend/alembic/versions/</a:t>
            </a:r>
          </a:p>
          <a:p>
            <a:endParaRPr lang="en-US" dirty="0"/>
          </a:p>
          <a:p>
            <a:r>
              <a:rPr lang="th-TH" dirty="0"/>
              <a:t>ภาพประกอบ: หน้าจอจริงที่บันทึกด้วย </a:t>
            </a:r>
            <a:r>
              <a:rPr lang="en-US" dirty="0"/>
              <a:t>Computer Use </a:t>
            </a:r>
            <a:r>
              <a:rPr lang="th-TH" dirty="0"/>
              <a:t>จาก </a:t>
            </a:r>
            <a:r>
              <a:rPr lang="en-US" dirty="0"/>
              <a:t>https://localhost </a:t>
            </a:r>
            <a:r>
              <a:rPr lang="th-TH" dirty="0"/>
              <a:t>และ </a:t>
            </a:r>
            <a:r>
              <a:rPr lang="en-US" dirty="0"/>
              <a:t>Docker Desktop </a:t>
            </a:r>
            <a:r>
              <a:rPr lang="th-TH" dirty="0"/>
              <a:t>เมื่อ 2 ตุลาคม 2569 ตัวเลขเป็นข้อมูลเดโม ณ เวลาบันทึกภาพ</a:t>
            </a:r>
          </a:p>
          <a:p>
            <a:r>
              <a:rPr lang="th-TH" dirty="0"/>
              <a:t>พื้นหลังตกแต่ง: ภาพ </a:t>
            </a:r>
            <a:r>
              <a:rPr lang="en-US" dirty="0"/>
              <a:t>abstract </a:t>
            </a:r>
            <a:r>
              <a:rPr lang="th-TH" dirty="0"/>
              <a:t>ที่สร้างด้วย </a:t>
            </a:r>
            <a:r>
              <a:rPr lang="en-US" dirty="0" err="1"/>
              <a:t>imagegen</a:t>
            </a:r>
            <a:r>
              <a:rPr lang="en-US" dirty="0"/>
              <a:t> </a:t>
            </a:r>
            <a:r>
              <a:rPr lang="th-TH" dirty="0"/>
              <a:t>ไม่มีข้อมูลทางเทคนิคหรือหลักฐานระบบอยู่ในภาพพื้นหลัง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9811E-4E21-5A58-F001-1B05EDC4E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769FD-8EDF-407A-90C5-141C7E604FE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766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เวลาแนะนำ: 50 วินาที</a:t>
            </a:r>
          </a:p>
          <a:p>
            <a:endParaRPr lang="th-TH"/>
          </a:p>
          <a:p>
            <a:r>
              <a:rPr lang="th-TH"/>
              <a:t>ภาพนี้ใช้รายการใน </a:t>
            </a:r>
            <a:r>
              <a:rPr lang="en-US"/>
              <a:t>Docker Desktop </a:t>
            </a:r>
            <a:r>
              <a:rPr lang="th-TH"/>
              <a:t>เพื่อตรวจว่ามี </a:t>
            </a:r>
            <a:r>
              <a:rPr lang="en-US"/>
              <a:t>web, api </a:t>
            </a:r>
            <a:r>
              <a:rPr lang="th-TH"/>
              <a:t>และ </a:t>
            </a:r>
            <a:r>
              <a:rPr lang="en-US"/>
              <a:t>db </a:t>
            </a:r>
            <a:r>
              <a:rPr lang="th-TH"/>
              <a:t>กำลังรัน เราเปิดพอร์ตออกจาก </a:t>
            </a:r>
            <a:r>
              <a:rPr lang="en-US"/>
              <a:t>Compose </a:t>
            </a:r>
            <a:r>
              <a:rPr lang="th-TH"/>
              <a:t>เฉพาะ </a:t>
            </a:r>
            <a:r>
              <a:rPr lang="en-US"/>
              <a:t>web </a:t>
            </a:r>
            <a:r>
              <a:rPr lang="th-TH"/>
              <a:t>ที่ 443 และ 80 โดย </a:t>
            </a:r>
            <a:r>
              <a:rPr lang="en-US"/>
              <a:t>Nginx redirect </a:t>
            </a:r>
            <a:r>
              <a:rPr lang="th-TH"/>
              <a:t>จาก 80 ไป </a:t>
            </a:r>
            <a:r>
              <a:rPr lang="en-US"/>
              <a:t>HTTPS API </a:t>
            </a:r>
            <a:r>
              <a:rPr lang="th-TH"/>
              <a:t>ใช้พอร์ต 8000 ภายใน </a:t>
            </a:r>
            <a:r>
              <a:rPr lang="en-US"/>
              <a:t>Docker network </a:t>
            </a:r>
            <a:r>
              <a:rPr lang="th-TH"/>
              <a:t>และฐานข้อมูลใช้ 5432 ภายใน </a:t>
            </a:r>
            <a:r>
              <a:rPr lang="en-US"/>
              <a:t>network </a:t>
            </a:r>
            <a:r>
              <a:rPr lang="th-TH"/>
              <a:t>ข้อมูล </a:t>
            </a:r>
            <a:r>
              <a:rPr lang="en-US"/>
              <a:t>PostgreSQL </a:t>
            </a:r>
            <a:r>
              <a:rPr lang="th-TH"/>
              <a:t>เก็บใน </a:t>
            </a:r>
            <a:r>
              <a:rPr lang="en-US"/>
              <a:t>volume pgdata </a:t>
            </a:r>
            <a:r>
              <a:rPr lang="th-TH"/>
              <a:t>เพื่อให้ข้อมูลยังอยู่หลัง </a:t>
            </a:r>
            <a:r>
              <a:rPr lang="en-US"/>
              <a:t>restart container Migration </a:t>
            </a:r>
            <a:r>
              <a:rPr lang="th-TH"/>
              <a:t>เตรียมตารางก่อนเริ่ม </a:t>
            </a:r>
            <a:r>
              <a:rPr lang="en-US"/>
              <a:t>API Docker network </a:t>
            </a:r>
            <a:r>
              <a:rPr lang="th-TH"/>
              <a:t>นี้ใช้พัฒนาและเดโมบนเครื่อง ยังไม่ใช่หลักฐานว่ามี </a:t>
            </a:r>
            <a:r>
              <a:rPr lang="en-US"/>
              <a:t>public/private subnet </a:t>
            </a:r>
            <a:r>
              <a:rPr lang="th-TH"/>
              <a:t>จริงบน </a:t>
            </a:r>
            <a:r>
              <a:rPr lang="en-US"/>
              <a:t>AWS </a:t>
            </a:r>
            <a:r>
              <a:rPr lang="th-TH"/>
              <a:t>ส่วน </a:t>
            </a:r>
            <a:r>
              <a:rPr lang="en-US"/>
              <a:t>AWS </a:t>
            </a:r>
            <a:r>
              <a:rPr lang="th-TH"/>
              <a:t>มี </a:t>
            </a:r>
            <a:r>
              <a:rPr lang="en-US"/>
              <a:t>Terraform </a:t>
            </a:r>
            <a:r>
              <a:rPr lang="th-TH"/>
              <a:t>เตรียมไว้แต่ยังไม่ได้ </a:t>
            </a:r>
            <a:r>
              <a:rPr lang="en-US"/>
              <a:t>deploy</a:t>
            </a:r>
          </a:p>
          <a:p>
            <a:endParaRPr lang="en-US"/>
          </a:p>
          <a:p>
            <a:r>
              <a:rPr lang="th-TH"/>
              <a:t>แหล่งข้อมูลโครงการ:</a:t>
            </a:r>
          </a:p>
          <a:p>
            <a:r>
              <a:rPr lang="en-US"/>
              <a:t>compose.yaml; frontend/nginx.conf; backend/start.sh; infra/aws/main.tf</a:t>
            </a:r>
          </a:p>
          <a:p>
            <a:endParaRPr lang="en-US"/>
          </a:p>
          <a:p>
            <a:r>
              <a:rPr lang="th-TH"/>
              <a:t>ภาพประกอบ: หน้าจอจริงที่บันทึกด้วย </a:t>
            </a:r>
            <a:r>
              <a:rPr lang="en-US"/>
              <a:t>Computer Use </a:t>
            </a:r>
            <a:r>
              <a:rPr lang="th-TH"/>
              <a:t>จาก </a:t>
            </a:r>
            <a:r>
              <a:rPr lang="en-US"/>
              <a:t>https://localhost </a:t>
            </a:r>
            <a:r>
              <a:rPr lang="th-TH"/>
              <a:t>และ </a:t>
            </a:r>
            <a:r>
              <a:rPr lang="en-US"/>
              <a:t>Docker Desktop </a:t>
            </a:r>
            <a:r>
              <a:rPr lang="th-TH"/>
              <a:t>เมื่อ 2 ตุลาคม 2569 ตัวเลขเป็นข้อมูลเดโม ณ เวลาบันทึกภาพ</a:t>
            </a:r>
          </a:p>
          <a:p>
            <a:r>
              <a:rPr lang="en-US"/>
              <a:t>Volume </a:t>
            </a:r>
            <a:r>
              <a:rPr lang="th-TH"/>
              <a:t>เก็บข้อมูลหลัง </a:t>
            </a:r>
            <a:r>
              <a:rPr lang="en-US"/>
              <a:t>restart </a:t>
            </a:r>
            <a:r>
              <a:rPr lang="th-TH"/>
              <a:t>และ </a:t>
            </a:r>
            <a:r>
              <a:rPr lang="en-US"/>
              <a:t>Alembic migration </a:t>
            </a:r>
            <a:r>
              <a:rPr lang="th-TH"/>
              <a:t>เตรียมโครงสร้างตาราง </a:t>
            </a:r>
            <a:r>
              <a:rPr lang="en-US"/>
              <a:t>Docker Compose </a:t>
            </a:r>
            <a:r>
              <a:rPr lang="th-TH"/>
              <a:t>บนเครื่องยังไม่ใช่หลักฐานว่ามี </a:t>
            </a:r>
            <a:r>
              <a:rPr lang="en-US"/>
              <a:t>public/private subnet </a:t>
            </a:r>
            <a:r>
              <a:rPr lang="th-TH"/>
              <a:t>จริงบน </a:t>
            </a:r>
            <a:r>
              <a:rPr lang="en-US"/>
              <a:t>AWS</a:t>
            </a:r>
          </a:p>
          <a:p>
            <a:r>
              <a:rPr lang="th-TH"/>
              <a:t>พื้นหลังตกแต่ง: ภาพ </a:t>
            </a:r>
            <a:r>
              <a:rPr lang="en-US"/>
              <a:t>abstract </a:t>
            </a:r>
            <a:r>
              <a:rPr lang="th-TH"/>
              <a:t>ที่สร้างด้วย </a:t>
            </a:r>
            <a:r>
              <a:rPr lang="en-US"/>
              <a:t>imagegen </a:t>
            </a:r>
            <a:r>
              <a:rPr lang="th-TH"/>
              <a:t>ไม่มีข้อมูลทางเทคนิคหรือหลักฐานระบบอยู่ในภาพพื้นหลัง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769FD-8EDF-407A-90C5-141C7E604FE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073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เวลาแนะนำ: 60 วินาที</a:t>
            </a:r>
          </a:p>
          <a:p>
            <a:endParaRPr lang="th-TH"/>
          </a:p>
          <a:p>
            <a:r>
              <a:rPr lang="en-US"/>
              <a:t>Security </a:t>
            </a:r>
            <a:r>
              <a:rPr lang="th-TH"/>
              <a:t>ของเรามีทั้งการยืนยันตัวตนและการตรวจสิทธิ์ เมื่อ </a:t>
            </a:r>
            <a:r>
              <a:rPr lang="en-US"/>
              <a:t>Login Backend </a:t>
            </a:r>
            <a:r>
              <a:rPr lang="th-TH"/>
              <a:t>ตรวจ </a:t>
            </a:r>
            <a:r>
              <a:rPr lang="en-US"/>
              <a:t>password hash </a:t>
            </a:r>
            <a:r>
              <a:rPr lang="th-TH"/>
              <a:t>แล้วส่ง </a:t>
            </a:r>
            <a:r>
              <a:rPr lang="en-US"/>
              <a:t>JWT token </a:t>
            </a:r>
            <a:r>
              <a:rPr lang="th-TH"/>
              <a:t>อายุ 8 ชั่วโมงให้หน้าเว็บ การขอข้อมูลหรือแก้ไขข้อมูลต้องแนบ </a:t>
            </a:r>
            <a:r>
              <a:rPr lang="en-US"/>
              <a:t>token </a:t>
            </a:r>
            <a:r>
              <a:rPr lang="th-TH"/>
              <a:t>และ </a:t>
            </a:r>
            <a:r>
              <a:rPr lang="en-US"/>
              <a:t>Backend </a:t>
            </a:r>
            <a:r>
              <a:rPr lang="th-TH"/>
              <a:t>ตรวจผู้ใช้จากฐานข้อมูล </a:t>
            </a:r>
            <a:r>
              <a:rPr lang="en-US"/>
              <a:t>Employee </a:t>
            </a:r>
            <a:r>
              <a:rPr lang="th-TH"/>
              <a:t>เห็นและสร้างเฉพาะ </a:t>
            </a:r>
            <a:r>
              <a:rPr lang="en-US"/>
              <a:t>Ticket </a:t>
            </a:r>
            <a:r>
              <a:rPr lang="th-TH"/>
              <a:t>ของตัวเอง </a:t>
            </a:r>
            <a:r>
              <a:rPr lang="en-US"/>
              <a:t>Agent </a:t>
            </a:r>
            <a:r>
              <a:rPr lang="th-TH"/>
              <a:t>จัดการเฉพาะคิวฝ่ายของตน และ </a:t>
            </a:r>
            <a:r>
              <a:rPr lang="en-US"/>
              <a:t>Admin </a:t>
            </a:r>
            <a:r>
              <a:rPr lang="th-TH"/>
              <a:t>เห็นทุกฝ่าย </a:t>
            </a:r>
            <a:r>
              <a:rPr lang="en-US"/>
              <a:t>Backend </a:t>
            </a:r>
            <a:r>
              <a:rPr lang="th-TH"/>
              <a:t>ตรวจหมวด </a:t>
            </a:r>
            <a:r>
              <a:rPr lang="en-US"/>
              <a:t>IT </a:t>
            </a:r>
            <a:r>
              <a:rPr lang="th-TH"/>
              <a:t>หรือ </a:t>
            </a:r>
            <a:r>
              <a:rPr lang="en-US"/>
              <a:t>HR </a:t>
            </a:r>
            <a:r>
              <a:rPr lang="th-TH"/>
              <a:t>เอง กำหนดคิวตามหมวด และบังคับสถานะให้เดินจาก </a:t>
            </a:r>
            <a:r>
              <a:rPr lang="en-US"/>
              <a:t>Open </a:t>
            </a:r>
            <a:r>
              <a:rPr lang="th-TH"/>
              <a:t>ไป </a:t>
            </a:r>
            <a:r>
              <a:rPr lang="en-US"/>
              <a:t>In Progress </a:t>
            </a:r>
            <a:r>
              <a:rPr lang="th-TH"/>
              <a:t>แล้วจึง </a:t>
            </a:r>
            <a:r>
              <a:rPr lang="en-US"/>
              <a:t>Done Secret </a:t>
            </a:r>
            <a:r>
              <a:rPr lang="th-TH"/>
              <a:t>อยู่ใน </a:t>
            </a:r>
            <a:r>
              <a:rPr lang="en-US"/>
              <a:t>environment variables </a:t>
            </a:r>
            <a:r>
              <a:rPr lang="th-TH"/>
              <a:t>และ .</a:t>
            </a:r>
            <a:r>
              <a:rPr lang="en-US"/>
              <a:t>env </a:t>
            </a:r>
            <a:r>
              <a:rPr lang="th-TH"/>
              <a:t>ไม่อยู่ใน </a:t>
            </a:r>
            <a:r>
              <a:rPr lang="en-US"/>
              <a:t>Git </a:t>
            </a:r>
            <a:r>
              <a:rPr lang="th-TH"/>
              <a:t>สำหรับเดโม </a:t>
            </a:r>
            <a:r>
              <a:rPr lang="en-US"/>
              <a:t>HTTPS </a:t>
            </a:r>
            <a:r>
              <a:rPr lang="th-TH"/>
              <a:t>ใช้ </a:t>
            </a:r>
            <a:r>
              <a:rPr lang="en-US"/>
              <a:t>self-signed certificate </a:t>
            </a:r>
            <a:r>
              <a:rPr lang="th-TH"/>
              <a:t>จึงมีคำเตือน </a:t>
            </a:r>
            <a:r>
              <a:rPr lang="en-US"/>
              <a:t>Not secure </a:t>
            </a:r>
            <a:r>
              <a:rPr lang="th-TH"/>
              <a:t>ใน </a:t>
            </a:r>
            <a:r>
              <a:rPr lang="en-US"/>
              <a:t>Browser </a:t>
            </a:r>
            <a:r>
              <a:rPr lang="th-TH"/>
              <a:t>ถ้านำขึ้น </a:t>
            </a:r>
            <a:r>
              <a:rPr lang="en-US"/>
              <a:t>AWS </a:t>
            </a:r>
            <a:r>
              <a:rPr lang="th-TH"/>
              <a:t>แบบที่เตรียมไว้จะใช้ </a:t>
            </a:r>
            <a:r>
              <a:rPr lang="en-US"/>
              <a:t>ACM certificate </a:t>
            </a:r>
            <a:r>
              <a:rPr lang="th-TH"/>
              <a:t>กับ </a:t>
            </a:r>
            <a:r>
              <a:rPr lang="en-US"/>
              <a:t>hostname </a:t>
            </a:r>
            <a:r>
              <a:rPr lang="th-TH"/>
              <a:t>จริง</a:t>
            </a:r>
          </a:p>
          <a:p>
            <a:endParaRPr lang="th-TH"/>
          </a:p>
          <a:p>
            <a:r>
              <a:rPr lang="th-TH"/>
              <a:t>แหล่งข้อมูลโครงการ:</a:t>
            </a:r>
          </a:p>
          <a:p>
            <a:r>
              <a:rPr lang="en-US"/>
              <a:t>backend/app/auth.py; backend/app/main.py; frontend/nginx.conf; .gitignore; infra/aws/main.tf</a:t>
            </a:r>
          </a:p>
          <a:p>
            <a:endParaRPr lang="en-US"/>
          </a:p>
          <a:p>
            <a:r>
              <a:rPr lang="th-TH"/>
              <a:t>ภาพประกอบ: หน้าจอจริงที่บันทึกด้วย </a:t>
            </a:r>
            <a:r>
              <a:rPr lang="en-US"/>
              <a:t>Computer Use </a:t>
            </a:r>
            <a:r>
              <a:rPr lang="th-TH"/>
              <a:t>จาก </a:t>
            </a:r>
            <a:r>
              <a:rPr lang="en-US"/>
              <a:t>https://localhost </a:t>
            </a:r>
            <a:r>
              <a:rPr lang="th-TH"/>
              <a:t>และ </a:t>
            </a:r>
            <a:r>
              <a:rPr lang="en-US"/>
              <a:t>Docker Desktop </a:t>
            </a:r>
            <a:r>
              <a:rPr lang="th-TH"/>
              <a:t>เมื่อ 2 ตุลาคม 2569 ตัวเลขเป็นข้อมูลเดโม ณ เวลาบันทึกภาพ</a:t>
            </a:r>
          </a:p>
          <a:p>
            <a:r>
              <a:rPr lang="th-TH"/>
              <a:t>พื้นหลังตกแต่ง: ภาพ </a:t>
            </a:r>
            <a:r>
              <a:rPr lang="en-US"/>
              <a:t>abstract </a:t>
            </a:r>
            <a:r>
              <a:rPr lang="th-TH"/>
              <a:t>ที่สร้างด้วย </a:t>
            </a:r>
            <a:r>
              <a:rPr lang="en-US"/>
              <a:t>imagegen </a:t>
            </a:r>
            <a:r>
              <a:rPr lang="th-TH"/>
              <a:t>ไม่มีข้อมูลทางเทคนิคหรือหลักฐานระบบอยู่ในภาพพื้นหลัง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769FD-8EDF-407A-90C5-141C7E604FE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9759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เวลาแนะนำ: 30 วินาที</a:t>
            </a:r>
          </a:p>
          <a:p>
            <a:endParaRPr lang="th-TH"/>
          </a:p>
          <a:p>
            <a:r>
              <a:rPr lang="th-TH"/>
              <a:t>หน้าแรกให้ผู้ใช้กรอกอีเมลและรหัสผ่าน ระบบไม่ได้ให้ผู้ใช้เลือกเองว่าจะเป็น </a:t>
            </a:r>
            <a:r>
              <a:rPr lang="en-US"/>
              <a:t>Admin </a:t>
            </a:r>
            <a:r>
              <a:rPr lang="th-TH"/>
              <a:t>หรือ </a:t>
            </a:r>
            <a:r>
              <a:rPr lang="en-US"/>
              <a:t>Agent </a:t>
            </a:r>
            <a:r>
              <a:rPr lang="th-TH"/>
              <a:t>แต่ </a:t>
            </a:r>
            <a:r>
              <a:rPr lang="en-US"/>
              <a:t>Backend </a:t>
            </a:r>
            <a:r>
              <a:rPr lang="th-TH"/>
              <a:t>อ่านบทบาทและฝ่ายจากบัญชีที่เก็บไว้ในฐานข้อมูล แล้วแสดงกล่องงานตามสิทธิ์ มีตัวบอกว่า </a:t>
            </a:r>
            <a:r>
              <a:rPr lang="en-US"/>
              <a:t>API </a:t>
            </a:r>
            <a:r>
              <a:rPr lang="th-TH"/>
              <a:t>พร้อมใช้งานหรือไม่ หลัง </a:t>
            </a:r>
            <a:r>
              <a:rPr lang="en-US"/>
              <a:t>Login token </a:t>
            </a:r>
            <a:r>
              <a:rPr lang="th-TH"/>
              <a:t>อยู่ในหน่วยความจำของหน้าเว็บ ถ้า </a:t>
            </a:r>
            <a:r>
              <a:rPr lang="en-US"/>
              <a:t>refresh </a:t>
            </a:r>
            <a:r>
              <a:rPr lang="th-TH"/>
              <a:t>หน้า </a:t>
            </a:r>
            <a:r>
              <a:rPr lang="en-US"/>
              <a:t>Browser </a:t>
            </a:r>
            <a:r>
              <a:rPr lang="th-TH"/>
              <a:t>ต้อง </a:t>
            </a:r>
            <a:r>
              <a:rPr lang="en-US"/>
              <a:t>Login </a:t>
            </a:r>
            <a:r>
              <a:rPr lang="th-TH"/>
              <a:t>ใหม่ใน </a:t>
            </a:r>
            <a:r>
              <a:rPr lang="en-US"/>
              <a:t>MVP </a:t>
            </a:r>
            <a:r>
              <a:rPr lang="th-TH"/>
              <a:t>นี้</a:t>
            </a:r>
          </a:p>
          <a:p>
            <a:endParaRPr lang="th-TH"/>
          </a:p>
          <a:p>
            <a:r>
              <a:rPr lang="th-TH"/>
              <a:t>แหล่งข้อมูลโครงการ:</a:t>
            </a:r>
          </a:p>
          <a:p>
            <a:r>
              <a:rPr lang="en-US"/>
              <a:t>frontend/src/main.jsx; backend/app/auth.py; backend/app/main.py</a:t>
            </a:r>
          </a:p>
          <a:p>
            <a:endParaRPr lang="en-US"/>
          </a:p>
          <a:p>
            <a:r>
              <a:rPr lang="th-TH"/>
              <a:t>ภาพประกอบ: หน้าจอจริงที่บันทึกด้วย </a:t>
            </a:r>
            <a:r>
              <a:rPr lang="en-US"/>
              <a:t>Computer Use </a:t>
            </a:r>
            <a:r>
              <a:rPr lang="th-TH"/>
              <a:t>จาก </a:t>
            </a:r>
            <a:r>
              <a:rPr lang="en-US"/>
              <a:t>https://localhost </a:t>
            </a:r>
            <a:r>
              <a:rPr lang="th-TH"/>
              <a:t>และ </a:t>
            </a:r>
            <a:r>
              <a:rPr lang="en-US"/>
              <a:t>Docker Desktop </a:t>
            </a:r>
            <a:r>
              <a:rPr lang="th-TH"/>
              <a:t>เมื่อ 2 ตุลาคม 2569 ตัวเลขเป็นข้อมูลเดโม ณ เวลาบันทึกภาพ</a:t>
            </a:r>
          </a:p>
          <a:p>
            <a:r>
              <a:rPr lang="th-TH"/>
              <a:t>พื้นหลังตกแต่ง: ภาพ </a:t>
            </a:r>
            <a:r>
              <a:rPr lang="en-US"/>
              <a:t>abstract </a:t>
            </a:r>
            <a:r>
              <a:rPr lang="th-TH"/>
              <a:t>ที่สร้างด้วย </a:t>
            </a:r>
            <a:r>
              <a:rPr lang="en-US"/>
              <a:t>imagegen </a:t>
            </a:r>
            <a:r>
              <a:rPr lang="th-TH"/>
              <a:t>ไม่มีข้อมูลทางเทคนิคหรือหลักฐานระบบอยู่ในภาพพื้นหลัง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769FD-8EDF-407A-90C5-141C7E604FE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8105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เวลาแนะนำ: 50 วินาที</a:t>
            </a:r>
          </a:p>
          <a:p>
            <a:endParaRPr lang="th-TH"/>
          </a:p>
          <a:p>
            <a:r>
              <a:rPr lang="th-TH"/>
              <a:t>เมื่อ </a:t>
            </a:r>
            <a:r>
              <a:rPr lang="en-US"/>
              <a:t>Employee Login </a:t>
            </a:r>
            <a:r>
              <a:rPr lang="th-TH"/>
              <a:t>ระบบแสดงเฉพาะคำขอที่พนักงานคนนั้นสร้างไว้ มีตัวเลขจำนวนทั้งหมด รอดำเนินการ กำลังดำเนินการ และเสร็จแล้ว ผู้ใช้ค้นด้วยเลข </a:t>
            </a:r>
            <a:r>
              <a:rPr lang="en-US"/>
              <a:t>Ticket </a:t>
            </a:r>
            <a:r>
              <a:rPr lang="th-TH"/>
              <a:t>หัวข้อหรือรายละเอียด และกรองตามสถานะได้ รายการแสดงฝ่าย สถานะ ความเร่งด่วนและอายุงาน โดยงานใหม่อยู่ก่อน คลิก </a:t>
            </a:r>
            <a:r>
              <a:rPr lang="en-US"/>
              <a:t>Ticket </a:t>
            </a:r>
            <a:r>
              <a:rPr lang="th-TH"/>
              <a:t>เพื่อดูรายละเอียดทางขวา และกดแจ้งคำขอใหม่เพื่อเปิดฟอร์ม ตัวเลขข้อความใหม่บนรายการช่วยบอกว่ามีคำตอบที่ยังไม่อ่าน โดยรายการที่ส่งมาจาก </a:t>
            </a:r>
            <a:r>
              <a:rPr lang="en-US"/>
              <a:t>Backend </a:t>
            </a:r>
            <a:r>
              <a:rPr lang="th-TH"/>
              <a:t>ผ่านการจำกัดสิทธิ์ไว้แล้ว</a:t>
            </a:r>
          </a:p>
          <a:p>
            <a:endParaRPr lang="th-TH"/>
          </a:p>
          <a:p>
            <a:r>
              <a:rPr lang="th-TH"/>
              <a:t>แหล่งข้อมูลโครงการ:</a:t>
            </a:r>
          </a:p>
          <a:p>
            <a:r>
              <a:rPr lang="en-US"/>
              <a:t>frontend/src/main.jsx; backend/app/main.py</a:t>
            </a:r>
          </a:p>
          <a:p>
            <a:endParaRPr lang="en-US"/>
          </a:p>
          <a:p>
            <a:r>
              <a:rPr lang="th-TH"/>
              <a:t>ภาพประกอบ: หน้าจอจริงที่บันทึกด้วย </a:t>
            </a:r>
            <a:r>
              <a:rPr lang="en-US"/>
              <a:t>Computer Use </a:t>
            </a:r>
            <a:r>
              <a:rPr lang="th-TH"/>
              <a:t>จาก </a:t>
            </a:r>
            <a:r>
              <a:rPr lang="en-US"/>
              <a:t>https://localhost </a:t>
            </a:r>
            <a:r>
              <a:rPr lang="th-TH"/>
              <a:t>และ </a:t>
            </a:r>
            <a:r>
              <a:rPr lang="en-US"/>
              <a:t>Docker Desktop </a:t>
            </a:r>
            <a:r>
              <a:rPr lang="th-TH"/>
              <a:t>เมื่อ 2 ตุลาคม 2569 ตัวเลขเป็นข้อมูลเดโม ณ เวลาบันทึกภาพ</a:t>
            </a:r>
          </a:p>
          <a:p>
            <a:r>
              <a:rPr lang="th-TH"/>
              <a:t>พื้นหลังตกแต่ง: ภาพ </a:t>
            </a:r>
            <a:r>
              <a:rPr lang="en-US"/>
              <a:t>abstract </a:t>
            </a:r>
            <a:r>
              <a:rPr lang="th-TH"/>
              <a:t>ที่สร้างด้วย </a:t>
            </a:r>
            <a:r>
              <a:rPr lang="en-US"/>
              <a:t>imagegen </a:t>
            </a:r>
            <a:r>
              <a:rPr lang="th-TH"/>
              <a:t>ไม่มีข้อมูลทางเทคนิคหรือหลักฐานระบบอยู่ในภาพพื้นหลัง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769FD-8EDF-407A-90C5-141C7E604FE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8294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เวลาแนะนำ: 60 วินาที</a:t>
            </a:r>
          </a:p>
          <a:p>
            <a:endParaRPr lang="th-TH"/>
          </a:p>
          <a:p>
            <a:r>
              <a:rPr lang="th-TH"/>
              <a:t>ตัวอย่างเดโมให้เลือกหมวด </a:t>
            </a:r>
            <a:r>
              <a:rPr lang="en-US"/>
              <a:t>IT </a:t>
            </a:r>
            <a:r>
              <a:rPr lang="th-TH"/>
              <a:t>หัวข้อเปิดคอมพิวเตอร์ไม่ได้ ผลกระทบคือพนักงานบัญชีทำงานต่อไม่ได้ และเพิ่มรายละเอียดของปัญหา เมื่อกดส่ง </a:t>
            </a:r>
            <a:r>
              <a:rPr lang="en-US"/>
              <a:t>Frontend </a:t>
            </a:r>
            <a:r>
              <a:rPr lang="th-TH"/>
              <a:t>ส่งข้อมูลให้ </a:t>
            </a:r>
            <a:r>
              <a:rPr lang="en-US"/>
              <a:t>FastAPI Backend </a:t>
            </a:r>
            <a:r>
              <a:rPr lang="th-TH"/>
              <a:t>ตรวจว่าผู้ใช้เป็น </a:t>
            </a:r>
            <a:r>
              <a:rPr lang="en-US"/>
              <a:t>Employee </a:t>
            </a:r>
            <a:r>
              <a:rPr lang="th-TH"/>
              <a:t>และหมวดอยู่ใน </a:t>
            </a:r>
            <a:r>
              <a:rPr lang="en-US"/>
              <a:t>IT </a:t>
            </a:r>
            <a:r>
              <a:rPr lang="th-TH"/>
              <a:t>หรือ </a:t>
            </a:r>
            <a:r>
              <a:rPr lang="en-US"/>
              <a:t>HR </a:t>
            </a:r>
            <a:r>
              <a:rPr lang="th-TH"/>
              <a:t>แล้วกำหนดคิวจากหมวดเอง ผู้ใช้เปลี่ยนคิวโดยส่ง </a:t>
            </a:r>
            <a:r>
              <a:rPr lang="en-US"/>
              <a:t>department </a:t>
            </a:r>
            <a:r>
              <a:rPr lang="th-TH"/>
              <a:t>ปลอมไม่ได้ งานเริ่มเป็น </a:t>
            </a:r>
            <a:r>
              <a:rPr lang="en-US"/>
              <a:t>Open </a:t>
            </a:r>
            <a:r>
              <a:rPr lang="th-TH"/>
              <a:t>และ </a:t>
            </a:r>
            <a:r>
              <a:rPr lang="en-US"/>
              <a:t>Normal </a:t>
            </a:r>
            <a:r>
              <a:rPr lang="th-TH"/>
              <a:t>เสมอ พนักงานส่งผลกระทบให้เจ้าหน้าที่ใช้ประเมินความเร่งด่วน </a:t>
            </a:r>
            <a:r>
              <a:rPr lang="en-US"/>
              <a:t>Backend </a:t>
            </a:r>
            <a:r>
              <a:rPr lang="th-TH"/>
              <a:t>ไม่รับ </a:t>
            </a:r>
            <a:r>
              <a:rPr lang="en-US"/>
              <a:t>priority </a:t>
            </a:r>
            <a:r>
              <a:rPr lang="th-TH"/>
              <a:t>จากผู้แจ้ง จากนั้นบันทึก </a:t>
            </a:r>
            <a:r>
              <a:rPr lang="en-US"/>
              <a:t>Ticket </a:t>
            </a:r>
            <a:r>
              <a:rPr lang="th-TH"/>
              <a:t>และประวัติการสร้างใน </a:t>
            </a:r>
            <a:r>
              <a:rPr lang="en-US"/>
              <a:t>PostgreSQL </a:t>
            </a:r>
            <a:r>
              <a:rPr lang="th-TH"/>
              <a:t>แล้วส่งผลกลับมาให้หน้าเว็บ</a:t>
            </a:r>
          </a:p>
          <a:p>
            <a:endParaRPr lang="th-TH"/>
          </a:p>
          <a:p>
            <a:r>
              <a:rPr lang="th-TH"/>
              <a:t>แหล่งข้อมูลโครงการ:</a:t>
            </a:r>
          </a:p>
          <a:p>
            <a:r>
              <a:rPr lang="en-US"/>
              <a:t>frontend/src/main.jsx; backend/app/main.py:32-43,123-133; backend/app/models.py</a:t>
            </a:r>
          </a:p>
          <a:p>
            <a:endParaRPr lang="en-US"/>
          </a:p>
          <a:p>
            <a:r>
              <a:rPr lang="th-TH"/>
              <a:t>ภาพประกอบ: หน้าจอจริงที่บันทึกด้วย </a:t>
            </a:r>
            <a:r>
              <a:rPr lang="en-US"/>
              <a:t>Computer Use </a:t>
            </a:r>
            <a:r>
              <a:rPr lang="th-TH"/>
              <a:t>จาก </a:t>
            </a:r>
            <a:r>
              <a:rPr lang="en-US"/>
              <a:t>https://localhost </a:t>
            </a:r>
            <a:r>
              <a:rPr lang="th-TH"/>
              <a:t>และ </a:t>
            </a:r>
            <a:r>
              <a:rPr lang="en-US"/>
              <a:t>Docker Desktop </a:t>
            </a:r>
            <a:r>
              <a:rPr lang="th-TH"/>
              <a:t>เมื่อ 2 ตุลาคม 2569 ตัวเลขเป็นข้อมูลเดโม ณ เวลาบันทึกภาพ</a:t>
            </a:r>
          </a:p>
          <a:p>
            <a:r>
              <a:rPr lang="th-TH"/>
              <a:t>พื้นหลังตกแต่ง: ภาพ </a:t>
            </a:r>
            <a:r>
              <a:rPr lang="en-US"/>
              <a:t>abstract </a:t>
            </a:r>
            <a:r>
              <a:rPr lang="th-TH"/>
              <a:t>ที่สร้างด้วย </a:t>
            </a:r>
            <a:r>
              <a:rPr lang="en-US"/>
              <a:t>imagegen </a:t>
            </a:r>
            <a:r>
              <a:rPr lang="th-TH"/>
              <a:t>ไม่มีข้อมูลทางเทคนิคหรือหลักฐานระบบอยู่ในภาพพื้นหลัง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769FD-8EDF-407A-90C5-141C7E604FE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7596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เวลาแนะนำ: 70 วินาที</a:t>
            </a:r>
          </a:p>
          <a:p>
            <a:endParaRPr lang="th-TH"/>
          </a:p>
          <a:p>
            <a:r>
              <a:rPr lang="th-TH"/>
              <a:t>เมื่อเจ้าหน้าที่ </a:t>
            </a:r>
            <a:r>
              <a:rPr lang="en-US"/>
              <a:t>IT Login </a:t>
            </a:r>
            <a:r>
              <a:rPr lang="th-TH"/>
              <a:t>ชื่อหน้าจะแสดงฝ่ายเทคโนโลยีสารสนเทศเต็ม ๆ และมีเฉพาะงาน </a:t>
            </a:r>
            <a:r>
              <a:rPr lang="en-US"/>
              <a:t>IT </a:t>
            </a:r>
            <a:r>
              <a:rPr lang="th-TH"/>
              <a:t>เจ้าหน้าที่ </a:t>
            </a:r>
            <a:r>
              <a:rPr lang="en-US"/>
              <a:t>HR </a:t>
            </a:r>
            <a:r>
              <a:rPr lang="th-TH"/>
              <a:t>ก็เห็นเฉพาะฝ่ายทรัพยากรบุคคล </a:t>
            </a:r>
            <a:r>
              <a:rPr lang="en-US"/>
              <a:t>Agent </a:t>
            </a:r>
            <a:r>
              <a:rPr lang="th-TH"/>
              <a:t>อ่านผลกระทบแล้วเลือกระดับ </a:t>
            </a:r>
            <a:r>
              <a:rPr lang="en-US"/>
              <a:t>Normal </a:t>
            </a:r>
            <a:r>
              <a:rPr lang="th-TH"/>
              <a:t>หรือ </a:t>
            </a:r>
            <a:r>
              <a:rPr lang="en-US"/>
              <a:t>Urgent </a:t>
            </a:r>
            <a:r>
              <a:rPr lang="th-TH"/>
              <a:t>คิวแสดงงานเร่งด่วนก่อนและงานเก่าก่อนในระดับเดียวกัน ปุ่มรับงานขึ้นหน้าต่างยืนยัน แล้วเปลี่ยนจาก </a:t>
            </a:r>
            <a:r>
              <a:rPr lang="en-US"/>
              <a:t>Open </a:t>
            </a:r>
            <a:r>
              <a:rPr lang="th-TH"/>
              <a:t>เป็น </a:t>
            </a:r>
            <a:r>
              <a:rPr lang="en-US"/>
              <a:t>In Progress </a:t>
            </a:r>
            <a:r>
              <a:rPr lang="th-TH"/>
              <a:t>เมื่อแก้ไขเสร็จกดทำเครื่องหมายว่าเสร็จแล้วและยืนยันเพื่อเปลี่ยนเป็น </a:t>
            </a:r>
            <a:r>
              <a:rPr lang="en-US"/>
              <a:t>Done Backend </a:t>
            </a:r>
            <a:r>
              <a:rPr lang="th-TH"/>
              <a:t>บังคับตามลำดับและบันทึกผู้เปลี่ยนกับเวลา ทั้งสถานะและความเร่งด่วน นอกจากนี้ </a:t>
            </a:r>
            <a:r>
              <a:rPr lang="en-US"/>
              <a:t>API </a:t>
            </a:r>
            <a:r>
              <a:rPr lang="th-TH"/>
              <a:t>ไม่ยอมให้ </a:t>
            </a:r>
            <a:r>
              <a:rPr lang="en-US"/>
              <a:t>Agent </a:t>
            </a:r>
            <a:r>
              <a:rPr lang="th-TH"/>
              <a:t>ข้ามไปจัดการ </a:t>
            </a:r>
            <a:r>
              <a:rPr lang="en-US"/>
              <a:t>Ticket </a:t>
            </a:r>
            <a:r>
              <a:rPr lang="th-TH"/>
              <a:t>อีกฝ่าย งานใน </a:t>
            </a:r>
            <a:r>
              <a:rPr lang="en-US"/>
              <a:t>MVP </a:t>
            </a:r>
            <a:r>
              <a:rPr lang="th-TH"/>
              <a:t>นี้เข้าคิวของฝ่าย ยังไม่มีการมอบหมายให้ </a:t>
            </a:r>
            <a:r>
              <a:rPr lang="en-US"/>
              <a:t>Agent </a:t>
            </a:r>
            <a:r>
              <a:rPr lang="th-TH"/>
              <a:t>รายบุคคล</a:t>
            </a:r>
          </a:p>
          <a:p>
            <a:endParaRPr lang="th-TH"/>
          </a:p>
          <a:p>
            <a:r>
              <a:rPr lang="th-TH"/>
              <a:t>แหล่งข้อมูลโครงการ:</a:t>
            </a:r>
          </a:p>
          <a:p>
            <a:r>
              <a:rPr lang="en-US"/>
              <a:t>frontend/src/main.jsx; backend/app/main.py:95-102,207-232</a:t>
            </a:r>
          </a:p>
          <a:p>
            <a:endParaRPr lang="en-US"/>
          </a:p>
          <a:p>
            <a:r>
              <a:rPr lang="th-TH"/>
              <a:t>ภาพประกอบ: หน้าจอจริงที่บันทึกด้วย </a:t>
            </a:r>
            <a:r>
              <a:rPr lang="en-US"/>
              <a:t>Computer Use </a:t>
            </a:r>
            <a:r>
              <a:rPr lang="th-TH"/>
              <a:t>จาก </a:t>
            </a:r>
            <a:r>
              <a:rPr lang="en-US"/>
              <a:t>https://localhost </a:t>
            </a:r>
            <a:r>
              <a:rPr lang="th-TH"/>
              <a:t>และ </a:t>
            </a:r>
            <a:r>
              <a:rPr lang="en-US"/>
              <a:t>Docker Desktop </a:t>
            </a:r>
            <a:r>
              <a:rPr lang="th-TH"/>
              <a:t>เมื่อ 2 ตุลาคม 2569 ตัวเลขเป็นข้อมูลเดโม ณ เวลาบันทึกภาพ</a:t>
            </a:r>
          </a:p>
          <a:p>
            <a:r>
              <a:rPr lang="th-TH"/>
              <a:t>ภาพนี้แสดง </a:t>
            </a:r>
            <a:r>
              <a:rPr lang="en-US"/>
              <a:t>Sidebar </a:t>
            </a:r>
            <a:r>
              <a:rPr lang="th-TH"/>
              <a:t>และรายการคิวจริง ปุ่มรับงานอยู่ด้านล่างรายละเอียด </a:t>
            </a:r>
            <a:r>
              <a:rPr lang="en-US"/>
              <a:t>Ticket </a:t>
            </a:r>
            <a:r>
              <a:rPr lang="th-TH"/>
              <a:t>หลัง </a:t>
            </a:r>
            <a:r>
              <a:rPr lang="en-US"/>
              <a:t>Agent </a:t>
            </a:r>
            <a:r>
              <a:rPr lang="th-TH"/>
              <a:t>ประเมิน </a:t>
            </a:r>
            <a:r>
              <a:rPr lang="en-US"/>
              <a:t>Normal / Urgent </a:t>
            </a:r>
            <a:r>
              <a:rPr lang="th-TH"/>
              <a:t>ระบบเรียงงานเร่งด่วนก่อน รับงานและปิดงานมีหน้าต่างยืนยันก่อนเปลี่ยน </a:t>
            </a:r>
            <a:r>
              <a:rPr lang="en-US"/>
              <a:t>Open → In Progress → Done</a:t>
            </a:r>
          </a:p>
          <a:p>
            <a:r>
              <a:rPr lang="th-TH"/>
              <a:t>พื้นหลังตกแต่ง: ภาพ </a:t>
            </a:r>
            <a:r>
              <a:rPr lang="en-US"/>
              <a:t>abstract </a:t>
            </a:r>
            <a:r>
              <a:rPr lang="th-TH"/>
              <a:t>ที่สร้างด้วย </a:t>
            </a:r>
            <a:r>
              <a:rPr lang="en-US"/>
              <a:t>imagegen </a:t>
            </a:r>
            <a:r>
              <a:rPr lang="th-TH"/>
              <a:t>ไม่มีข้อมูลทางเทคนิคหรือหลักฐานระบบอยู่ในภาพพื้นหลัง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769FD-8EDF-407A-90C5-141C7E604FE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2438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เวลาแนะนำ: 60 วินาที</a:t>
            </a:r>
          </a:p>
          <a:p>
            <a:endParaRPr lang="th-TH"/>
          </a:p>
          <a:p>
            <a:r>
              <a:rPr lang="th-TH"/>
              <a:t>ภายใน </a:t>
            </a:r>
            <a:r>
              <a:rPr lang="en-US"/>
              <a:t>Ticket </a:t>
            </a:r>
            <a:r>
              <a:rPr lang="th-TH"/>
              <a:t>ผู้แจ้งกับเจ้าหน้าที่ในฝ่ายที่รับผิดชอบส่งข้อความเกี่ยวกับปัญหานี้ได้ ข้อความที่เราส่งอยู่ขวา อีกฝ่ายอยู่ซ้าย กด </a:t>
            </a:r>
            <a:r>
              <a:rPr lang="en-US"/>
              <a:t>Enter </a:t>
            </a:r>
            <a:r>
              <a:rPr lang="th-TH"/>
              <a:t>ส่งข้อความและ </a:t>
            </a:r>
            <a:r>
              <a:rPr lang="en-US"/>
              <a:t>Shift Enter </a:t>
            </a:r>
            <a:r>
              <a:rPr lang="th-TH"/>
              <a:t>ขึ้นบรรทัดใหม่ ระบบเก็บข้อความใน </a:t>
            </a:r>
            <a:r>
              <a:rPr lang="en-US"/>
              <a:t>PostgreSQL </a:t>
            </a:r>
            <a:r>
              <a:rPr lang="th-TH"/>
              <a:t>และจำว่าผู้ใช้แต่ละคนอ่านถึงข้อความใด ตัวเลขบนรายการนับเฉพาะข้อความจากคนอื่นที่ยังไม่อ่าน ข้อความและตัวเลขอัปเดตโดย </a:t>
            </a:r>
            <a:r>
              <a:rPr lang="en-US"/>
              <a:t>polling </a:t>
            </a:r>
            <a:r>
              <a:rPr lang="th-TH"/>
              <a:t>ประมาณทุก 8 วินาที เป็นการให้หน้าเว็บถาม </a:t>
            </a:r>
            <a:r>
              <a:rPr lang="en-US"/>
              <a:t>API </a:t>
            </a:r>
            <a:r>
              <a:rPr lang="th-TH"/>
              <a:t>เป็นระยะ ส่วน </a:t>
            </a:r>
            <a:r>
              <a:rPr lang="en-US"/>
              <a:t>Timeline </a:t>
            </a:r>
            <a:r>
              <a:rPr lang="th-TH"/>
              <a:t>แสดงประวัติสร้าง </a:t>
            </a:r>
            <a:r>
              <a:rPr lang="en-US"/>
              <a:t>Ticket </a:t>
            </a:r>
            <a:r>
              <a:rPr lang="th-TH"/>
              <a:t>เปลี่ยนสถานะ และเปลี่ยนความเร่งด่วน พร้อมผู้ทำและเวลา ผู้มีสิทธิ์เข้าถึง </a:t>
            </a:r>
            <a:r>
              <a:rPr lang="en-US"/>
              <a:t>Ticket </a:t>
            </a:r>
            <a:r>
              <a:rPr lang="th-TH"/>
              <a:t>เท่านั้นที่อ่านหรือส่งข้อความได้</a:t>
            </a:r>
          </a:p>
          <a:p>
            <a:endParaRPr lang="th-TH"/>
          </a:p>
          <a:p>
            <a:r>
              <a:rPr lang="th-TH"/>
              <a:t>แหล่งข้อมูลโครงการ:</a:t>
            </a:r>
          </a:p>
          <a:p>
            <a:r>
              <a:rPr lang="en-US"/>
              <a:t>frontend/src/main.jsx; backend/app/main.py:148-205; backend/app/models.py</a:t>
            </a:r>
          </a:p>
          <a:p>
            <a:endParaRPr lang="en-US"/>
          </a:p>
          <a:p>
            <a:r>
              <a:rPr lang="th-TH"/>
              <a:t>ภาพประกอบ: หน้าจอจริงที่บันทึกด้วย </a:t>
            </a:r>
            <a:r>
              <a:rPr lang="en-US"/>
              <a:t>Computer Use </a:t>
            </a:r>
            <a:r>
              <a:rPr lang="th-TH"/>
              <a:t>จาก </a:t>
            </a:r>
            <a:r>
              <a:rPr lang="en-US"/>
              <a:t>https://localhost </a:t>
            </a:r>
            <a:r>
              <a:rPr lang="th-TH"/>
              <a:t>และ </a:t>
            </a:r>
            <a:r>
              <a:rPr lang="en-US"/>
              <a:t>Docker Desktop </a:t>
            </a:r>
            <a:r>
              <a:rPr lang="th-TH"/>
              <a:t>เมื่อ 2 ตุลาคม 2569 ตัวเลขเป็นข้อมูลเดโม ณ เวลาบันทึกภาพ</a:t>
            </a:r>
          </a:p>
          <a:p>
            <a:r>
              <a:rPr lang="th-TH"/>
              <a:t>พื้นหลังตกแต่ง: ภาพ </a:t>
            </a:r>
            <a:r>
              <a:rPr lang="en-US"/>
              <a:t>abstract </a:t>
            </a:r>
            <a:r>
              <a:rPr lang="th-TH"/>
              <a:t>ที่สร้างด้วย </a:t>
            </a:r>
            <a:r>
              <a:rPr lang="en-US"/>
              <a:t>imagegen </a:t>
            </a:r>
            <a:r>
              <a:rPr lang="th-TH"/>
              <a:t>ไม่มีข้อมูลทางเทคนิคหรือหลักฐานระบบอยู่ในภาพพื้นหลัง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769FD-8EDF-407A-90C5-141C7E604FE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2239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เวลาแนะนำ: 40 วินาที</a:t>
            </a:r>
          </a:p>
          <a:p>
            <a:endParaRPr lang="th-TH"/>
          </a:p>
          <a:p>
            <a:r>
              <a:rPr lang="en-US"/>
              <a:t>Admin </a:t>
            </a:r>
            <a:r>
              <a:rPr lang="th-TH"/>
              <a:t>เห็นภาพรวม </a:t>
            </a:r>
            <a:r>
              <a:rPr lang="en-US"/>
              <a:t>Ticket </a:t>
            </a:r>
            <a:r>
              <a:rPr lang="th-TH"/>
              <a:t>ของทุกฝ่าย เลือกกรอง </a:t>
            </a:r>
            <a:r>
              <a:rPr lang="en-US"/>
              <a:t>IT </a:t>
            </a:r>
            <a:r>
              <a:rPr lang="th-TH"/>
              <a:t>หรือ </a:t>
            </a:r>
            <a:r>
              <a:rPr lang="en-US"/>
              <a:t>HR </a:t>
            </a:r>
            <a:r>
              <a:rPr lang="th-TH"/>
              <a:t>ได้และเห็นจำนวนงานแต่ละฝ่าย </a:t>
            </a:r>
            <a:r>
              <a:rPr lang="en-US"/>
              <a:t>Admin </a:t>
            </a:r>
            <a:r>
              <a:rPr lang="th-TH"/>
              <a:t>เปลี่ยนสถานะหรือความเร่งด่วนเพื่อช่วยจัดลำดับข้ามฝ่าย และอ่านบทสนทนาได้ตามสิทธิ์ของ </a:t>
            </a:r>
            <a:r>
              <a:rPr lang="en-US"/>
              <a:t>Ticket </a:t>
            </a:r>
            <a:r>
              <a:rPr lang="th-TH"/>
              <a:t>เหตุการณ์ที่ </a:t>
            </a:r>
            <a:r>
              <a:rPr lang="en-US"/>
              <a:t>Admin </a:t>
            </a:r>
            <a:r>
              <a:rPr lang="th-TH"/>
              <a:t>ปรับก็มีชื่อผู้กระทำในประวัติเช่นเดียวกับ </a:t>
            </a:r>
            <a:r>
              <a:rPr lang="en-US"/>
              <a:t>Agent </a:t>
            </a:r>
            <a:r>
              <a:rPr lang="th-TH"/>
              <a:t>ส่วนการจัดการบัญชีหรือรีเซ็ตรหัสผ่านยังเป็นงานสำหรับพัฒนาต่อ </a:t>
            </a:r>
            <a:r>
              <a:rPr lang="en-US"/>
              <a:t>Admin </a:t>
            </a:r>
            <a:r>
              <a:rPr lang="th-TH"/>
              <a:t>ใน </a:t>
            </a:r>
            <a:r>
              <a:rPr lang="en-US"/>
              <a:t>MVP </a:t>
            </a:r>
            <a:r>
              <a:rPr lang="th-TH"/>
              <a:t>นี้เน้นภาพรวมและการช่วยดูแลงานบริการ</a:t>
            </a:r>
          </a:p>
          <a:p>
            <a:endParaRPr lang="th-TH"/>
          </a:p>
          <a:p>
            <a:r>
              <a:rPr lang="th-TH"/>
              <a:t>แหล่งข้อมูลโครงการ:</a:t>
            </a:r>
          </a:p>
          <a:p>
            <a:r>
              <a:rPr lang="en-US"/>
              <a:t>frontend/src/main.jsx; backend/app/main.py</a:t>
            </a:r>
          </a:p>
          <a:p>
            <a:endParaRPr lang="en-US"/>
          </a:p>
          <a:p>
            <a:r>
              <a:rPr lang="th-TH"/>
              <a:t>ภาพประกอบ: หน้าจอจริงที่บันทึกด้วย </a:t>
            </a:r>
            <a:r>
              <a:rPr lang="en-US"/>
              <a:t>Computer Use </a:t>
            </a:r>
            <a:r>
              <a:rPr lang="th-TH"/>
              <a:t>จาก </a:t>
            </a:r>
            <a:r>
              <a:rPr lang="en-US"/>
              <a:t>https://localhost </a:t>
            </a:r>
            <a:r>
              <a:rPr lang="th-TH"/>
              <a:t>และ </a:t>
            </a:r>
            <a:r>
              <a:rPr lang="en-US"/>
              <a:t>Docker Desktop </a:t>
            </a:r>
            <a:r>
              <a:rPr lang="th-TH"/>
              <a:t>เมื่อ 2 ตุลาคม 2569 ตัวเลขเป็นข้อมูลเดโม ณ เวลาบันทึกภาพ</a:t>
            </a:r>
          </a:p>
          <a:p>
            <a:r>
              <a:rPr lang="th-TH"/>
              <a:t>พื้นหลังตกแต่ง: ภาพ </a:t>
            </a:r>
            <a:r>
              <a:rPr lang="en-US"/>
              <a:t>abstract </a:t>
            </a:r>
            <a:r>
              <a:rPr lang="th-TH"/>
              <a:t>ที่สร้างด้วย </a:t>
            </a:r>
            <a:r>
              <a:rPr lang="en-US"/>
              <a:t>imagegen </a:t>
            </a:r>
            <a:r>
              <a:rPr lang="th-TH"/>
              <a:t>ไม่มีข้อมูลทางเทคนิคหรือหลักฐานระบบอยู่ในภาพพื้นหลัง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769FD-8EDF-407A-90C5-141C7E604FE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255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7DB6D-7F4A-9117-5073-5D7F112DA0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F31A3C-1411-0ABF-9281-F67A594327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ED387-8EB2-2C56-7479-3FDD2F630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69919-4D05-4CC0-B505-81598EF1437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2D4D4-F4ED-F2DB-C22A-2B02E47C8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15475-A5D2-2511-B712-EE9224A2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9AA3E-123B-4F36-88AA-85D9772B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648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8BFF8-83B7-9A9E-4961-57EA46AED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7E516-73A8-79F3-A68C-EC772930B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7C985-1FB9-0FEE-194D-8E25CBC33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69919-4D05-4CC0-B505-81598EF1437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F5989-6788-D37F-0880-96A3A0D4D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97EF8-51F6-56C2-5D91-27D89256B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9AA3E-123B-4F36-88AA-85D9772B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53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09176-5742-7496-FEE5-8D1604207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111CA5-E859-1533-8E98-8650DA438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FB8B6-8BBD-09CE-185C-C1F846781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69919-4D05-4CC0-B505-81598EF1437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502B0-C877-2F07-98E8-5383C13DA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A124-F29F-90E4-B843-D50ED21C6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9AA3E-123B-4F36-88AA-85D9772B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264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5E607-E914-332A-9BDE-E272464E4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94E6F-10A7-569A-0233-7889D1E162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2CE35D-FE40-5E7C-2E5D-03246219B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378DA0-ACBC-72E6-0806-E9E2FD102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69919-4D05-4CC0-B505-81598EF1437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719296-2269-0E25-0E6B-D118B1232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289902-FCDC-12BB-C29E-BB28EBB4F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9AA3E-123B-4F36-88AA-85D9772B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041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D4950-FF5E-16DF-8BB5-3A4C5CECD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0FFC3A-475D-0AF8-896D-CA8F79040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76AE31-E93A-1F65-3AF4-24B43EB5B9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86FBF0-D154-767B-DC7E-9FCD9C5786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196165-42CC-DC3E-8858-37BA1FC13C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B4C270-F0D7-3962-4572-CB98A2A1E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69919-4D05-4CC0-B505-81598EF1437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543586-457B-CA7F-2163-4999EE0EF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5E7EBF-659C-02B2-5297-D99BB1079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9AA3E-123B-4F36-88AA-85D9772B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124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1B8A9-8664-E693-E824-BE2DE45FB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F83912-21EC-8849-0BF8-D6B7C1B20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69919-4D05-4CC0-B505-81598EF1437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09276A-BDD5-DA67-0FB1-9F795C435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800125-81AA-6340-096C-496E35E3A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9AA3E-123B-4F36-88AA-85D9772B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582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166CB1-8A63-9D73-2040-A38AE3F92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69919-4D05-4CC0-B505-81598EF1437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BEE530-2E9D-9376-9520-6424E6F99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DF1C7F-8228-DAD6-E74D-C3378479E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9AA3E-123B-4F36-88AA-85D9772B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686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2143D-9054-38AA-8627-06392909C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6E5CC-A4BB-C50C-AAC9-E9E2402D8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5A2403-BEF9-C771-EBB9-130349DFB5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AEC452-7757-D910-0743-E96EAD5A0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69919-4D05-4CC0-B505-81598EF1437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065F8D-3993-F065-4A31-CF52FD966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EB6E5-FD53-9172-450C-99F569C3E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9AA3E-123B-4F36-88AA-85D9772B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71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18832-E732-A0DB-DF73-174338FB1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99675D-6F68-267A-78E9-9F6C93168BB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3E6A91-FD72-B212-6936-1E41247ADD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ED55C3-BC36-8247-0AC1-89652050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69919-4D05-4CC0-B505-81598EF1437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5B1236-3ADD-DBBA-DE1B-E4CB618DF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D71A6-E3AF-3B96-46AA-6DB2A2D7C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9AA3E-123B-4F36-88AA-85D9772B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979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B9649-247D-6A68-8F9E-F6DB531C8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E02D6-B8C5-2EB3-1A57-FBB23347A1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705D4-3D66-6A98-A5BD-C153EA53C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69919-4D05-4CC0-B505-81598EF1437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C2881-C032-30FE-F12A-DCA123386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8D5BB-C849-E1A7-2DD9-9251CC930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9AA3E-123B-4F36-88AA-85D9772B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403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664AC9-F5D2-8F71-0A17-924AE0F9BA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F7D6B-0913-4DBE-79F2-2119677646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03744-F064-1FBE-F17C-432F1405C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69919-4D05-4CC0-B505-81598EF1437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9CCCA-03E7-C3D8-E778-5BDD45CDA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008E8-0B7D-B74E-4DD5-CAC4708F8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9AA3E-123B-4F36-88AA-85D9772B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918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3EABFA-B1B5-0B7E-27E0-2C54AB62B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8AF73-43ED-7405-7964-B5C19DAC1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37BDD-E459-CC0F-6359-A6415DB6A4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969919-4D05-4CC0-B505-81598EF1437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84BDD-BD3D-3E35-2C95-D85CF7C76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520A1-A164-D475-8BAD-A2F10AF284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19AA3E-123B-4F36-88AA-85D9772B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032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Decorative theme background" descr="AI generated abstract blue and mint ribbon background, decorative only">
            <a:extLst>
              <a:ext uri="{FF2B5EF4-FFF2-40B4-BE49-F238E27FC236}">
                <a16:creationId xmlns:a16="http://schemas.microsoft.com/office/drawing/2014/main" id="{B364CBA6-9092-F086-4E00-B853ADF6398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FF8ABA-7801-4BF6-D069-CAA63EA9292F}"/>
              </a:ext>
            </a:extLst>
          </p:cNvPr>
          <p:cNvSpPr txBox="1"/>
          <p:nvPr/>
        </p:nvSpPr>
        <p:spPr>
          <a:xfrm>
            <a:off x="508000" y="279399"/>
            <a:ext cx="10414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100" b="1">
                <a:solidFill>
                  <a:srgbClr val="8EC0FB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SPRINT 1 · TECHNICAL REVIEW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9BE708-ECC3-B0F1-991F-F8EB24A9E7AC}"/>
              </a:ext>
            </a:extLst>
          </p:cNvPr>
          <p:cNvSpPr txBox="1"/>
          <p:nvPr/>
        </p:nvSpPr>
        <p:spPr>
          <a:xfrm>
            <a:off x="508000" y="787400"/>
            <a:ext cx="111760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4600" b="1">
                <a:solidFill>
                  <a:srgbClr val="FFFFF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TicketCenter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B426D7-C166-082E-9EC5-16F5E49A3E13}"/>
              </a:ext>
            </a:extLst>
          </p:cNvPr>
          <p:cNvSpPr txBox="1"/>
          <p:nvPr/>
        </p:nvSpPr>
        <p:spPr>
          <a:xfrm>
            <a:off x="10731500" y="6477000"/>
            <a:ext cx="952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100">
                <a:solidFill>
                  <a:srgbClr val="C2D7EA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01 / 12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93661D-3E71-A4A9-2D24-3DB42E385A36}"/>
              </a:ext>
            </a:extLst>
          </p:cNvPr>
          <p:cNvSpPr txBox="1"/>
          <p:nvPr/>
        </p:nvSpPr>
        <p:spPr>
          <a:xfrm>
            <a:off x="508000" y="1777999"/>
            <a:ext cx="110490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th-TH" sz="2900" b="1">
                <a:solidFill>
                  <a:srgbClr val="FFFFF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ระบบจัดการคำขอบริการภายในองค์กร</a:t>
            </a:r>
            <a:endParaRPr lang="en-US" sz="2900" b="1">
              <a:solidFill>
                <a:srgbClr val="FFFFFF"/>
              </a:solidFill>
              <a:latin typeface="Garamond" panose="020204040303010108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585E89-7ADD-3B0B-9371-0BC99BFD4365}"/>
              </a:ext>
            </a:extLst>
          </p:cNvPr>
          <p:cNvSpPr txBox="1"/>
          <p:nvPr/>
        </p:nvSpPr>
        <p:spPr>
          <a:xfrm>
            <a:off x="508000" y="2654299"/>
            <a:ext cx="5588000" cy="127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2200" dirty="0">
                <a:solidFill>
                  <a:srgbClr val="C1D0E5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Infrastructure, Security </a:t>
            </a:r>
            <a:r>
              <a:rPr lang="th-TH" sz="2200" dirty="0">
                <a:solidFill>
                  <a:srgbClr val="C1D0E5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และ </a:t>
            </a:r>
            <a:r>
              <a:rPr lang="en-US" sz="2200" dirty="0">
                <a:solidFill>
                  <a:srgbClr val="C1D0E5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Features</a:t>
            </a:r>
            <a:endParaRPr lang="th-TH" sz="2200" dirty="0">
              <a:solidFill>
                <a:srgbClr val="C1D0E5"/>
              </a:solidFill>
              <a:latin typeface="Garamond" panose="020204040303010108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Aft>
                <a:spcPts val="700"/>
              </a:spcAft>
            </a:pPr>
            <a:r>
              <a:rPr lang="th-TH" sz="2200" dirty="0">
                <a:solidFill>
                  <a:srgbClr val="C1D0E5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นายอนุพงศ์ พงศ์พิสิฐสันต์ 6601012610199</a:t>
            </a:r>
          </a:p>
          <a:p>
            <a:pPr>
              <a:spcAft>
                <a:spcPts val="700"/>
              </a:spcAft>
            </a:pPr>
            <a:r>
              <a:rPr lang="th-TH" sz="2200" dirty="0">
                <a:solidFill>
                  <a:srgbClr val="C1D0E5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นายวิศวเทพ ทองคำ	   6601012610156	</a:t>
            </a:r>
            <a:endParaRPr lang="en-US" sz="2200" dirty="0">
              <a:solidFill>
                <a:srgbClr val="C1D0E5"/>
              </a:solidFill>
              <a:latin typeface="Garamond" panose="020204040303010108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3" name="Screenshot login" descr="ภาพหน้าจอจริงของ TicketCenter / localhost หรือ Docker Desktop ถ่ายวันที่ 2 ตุลาคม 2569">
            <a:extLst>
              <a:ext uri="{FF2B5EF4-FFF2-40B4-BE49-F238E27FC236}">
                <a16:creationId xmlns:a16="http://schemas.microsoft.com/office/drawing/2014/main" id="{A16118FD-F4A1-F869-8ADB-9C42B0DB8CF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0" y="2705100"/>
            <a:ext cx="5461000" cy="3073400"/>
          </a:xfrm>
          <a:prstGeom prst="rect">
            <a:avLst/>
          </a:prstGeom>
          <a:ln w="7620">
            <a:solidFill>
              <a:srgbClr val="99C3DF"/>
            </a:solidFill>
          </a:ln>
          <a:effectLst>
            <a:prstShdw prst="shdw1" dist="40161" dir="4293903">
              <a:srgbClr val="26405D">
                <a:alpha val="12000"/>
              </a:srgbClr>
            </a:prst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20A29D-08D4-8BDF-9198-DF99CB43CA30}"/>
              </a:ext>
            </a:extLst>
          </p:cNvPr>
          <p:cNvSpPr txBox="1"/>
          <p:nvPr/>
        </p:nvSpPr>
        <p:spPr>
          <a:xfrm>
            <a:off x="508000" y="5765799"/>
            <a:ext cx="10795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th-TH" sz="2000">
                <a:solidFill>
                  <a:srgbClr val="FFFFF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แจ้งปัญหาและติดตามงานจนเสร็จในที่เดียว</a:t>
            </a:r>
            <a:endParaRPr lang="en-US" sz="2000">
              <a:solidFill>
                <a:srgbClr val="FFFFFF"/>
              </a:solidFill>
              <a:latin typeface="Garamond" panose="020204040303010108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04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Decorative theme background" descr="AI generated abstract blue and mint ribbon background, decorative only">
            <a:extLst>
              <a:ext uri="{FF2B5EF4-FFF2-40B4-BE49-F238E27FC236}">
                <a16:creationId xmlns:a16="http://schemas.microsoft.com/office/drawing/2014/main" id="{7CD0086B-3798-53D9-F654-A7372D28667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6BE3C0F-35B2-0A1C-0FAE-E87AA7B09092}"/>
              </a:ext>
            </a:extLst>
          </p:cNvPr>
          <p:cNvSpPr txBox="1"/>
          <p:nvPr/>
        </p:nvSpPr>
        <p:spPr>
          <a:xfrm>
            <a:off x="508000" y="685800"/>
            <a:ext cx="111760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3000" b="1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ปัญหาที่ </a:t>
            </a:r>
            <a:r>
              <a:rPr lang="en-US" sz="3000" b="1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TicketCenter </a:t>
            </a:r>
            <a:r>
              <a:rPr lang="th-TH" sz="3000" b="1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ช่วยแก้</a:t>
            </a:r>
            <a:endParaRPr lang="en-US" sz="3000" b="1">
              <a:solidFill>
                <a:srgbClr val="1B2B3F"/>
              </a:solidFill>
              <a:latin typeface="Garamond" panose="020204040303010108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BA67A2-F069-DA2C-338E-28294C901591}"/>
              </a:ext>
            </a:extLst>
          </p:cNvPr>
          <p:cNvSpPr txBox="1"/>
          <p:nvPr/>
        </p:nvSpPr>
        <p:spPr>
          <a:xfrm>
            <a:off x="10731500" y="6451600"/>
            <a:ext cx="952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10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02 / 12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F80628-E325-FE2F-7718-FFFEE5D4F043}"/>
              </a:ext>
            </a:extLst>
          </p:cNvPr>
          <p:cNvSpPr txBox="1"/>
          <p:nvPr/>
        </p:nvSpPr>
        <p:spPr>
          <a:xfrm>
            <a:off x="508000" y="1777999"/>
            <a:ext cx="48895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2500" b="1">
                <a:solidFill>
                  <a:srgbClr val="098084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ปัญหาปัจจุบัน</a:t>
            </a:r>
            <a:endParaRPr lang="en-US" sz="2500" b="1">
              <a:solidFill>
                <a:srgbClr val="098084"/>
              </a:solidFill>
              <a:latin typeface="Garamond" panose="020204040303010108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502346-54E2-051C-7C07-0EDE07A5C054}"/>
              </a:ext>
            </a:extLst>
          </p:cNvPr>
          <p:cNvSpPr txBox="1"/>
          <p:nvPr/>
        </p:nvSpPr>
        <p:spPr>
          <a:xfrm>
            <a:off x="508000" y="2603499"/>
            <a:ext cx="4953000" cy="279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250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คำขอกระจายหลายช่องทาง</a:t>
            </a:r>
          </a:p>
          <a:p>
            <a:pPr>
              <a:spcAft>
                <a:spcPts val="600"/>
              </a:spcAft>
            </a:pPr>
            <a:r>
              <a:rPr lang="th-TH" sz="250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ผู้แจ้งไม่รู้ว่าเรื่องถึงฝ่ายใด</a:t>
            </a:r>
          </a:p>
          <a:p>
            <a:pPr>
              <a:spcAft>
                <a:spcPts val="600"/>
              </a:spcAft>
            </a:pPr>
            <a:r>
              <a:rPr lang="th-TH" sz="250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ต้องถามความคืบหน้าซ้ำ</a:t>
            </a:r>
            <a:endParaRPr lang="en-US" sz="2500">
              <a:solidFill>
                <a:srgbClr val="1B2B3F"/>
              </a:solidFill>
              <a:latin typeface="Garamond" panose="020204040303010108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0A2788-EAA0-CBCE-38D6-1A9ABA03E850}"/>
              </a:ext>
            </a:extLst>
          </p:cNvPr>
          <p:cNvSpPr txBox="1"/>
          <p:nvPr/>
        </p:nvSpPr>
        <p:spPr>
          <a:xfrm>
            <a:off x="6413500" y="1777999"/>
            <a:ext cx="52705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2500" b="1">
                <a:solidFill>
                  <a:srgbClr val="098084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สิ่งที่ระบบให้ผู้ใช้</a:t>
            </a:r>
            <a:endParaRPr lang="en-US" sz="2500" b="1">
              <a:solidFill>
                <a:srgbClr val="098084"/>
              </a:solidFill>
              <a:latin typeface="Garamond" panose="020204040303010108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BBEAF4-CBDE-528E-2828-10C5CF5754E2}"/>
              </a:ext>
            </a:extLst>
          </p:cNvPr>
          <p:cNvSpPr txBox="1"/>
          <p:nvPr/>
        </p:nvSpPr>
        <p:spPr>
          <a:xfrm>
            <a:off x="6413500" y="2603499"/>
            <a:ext cx="5207000" cy="279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2500" dirty="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Ticket </a:t>
            </a:r>
            <a:r>
              <a:rPr lang="th-TH" sz="2500" dirty="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มีฝ่ายรับผิดชอบชัดเจน</a:t>
            </a:r>
          </a:p>
          <a:p>
            <a:pPr>
              <a:spcAft>
                <a:spcPts val="600"/>
              </a:spcAft>
            </a:pPr>
            <a:r>
              <a:rPr lang="th-TH" sz="2500" dirty="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ดูสถานะและคุยในเรื่องเดียวกัน</a:t>
            </a:r>
          </a:p>
          <a:p>
            <a:pPr>
              <a:spcAft>
                <a:spcPts val="600"/>
              </a:spcAft>
            </a:pPr>
            <a:r>
              <a:rPr lang="th-TH" sz="2500" dirty="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ตรวจประวัติย้อนหลังได้</a:t>
            </a:r>
            <a:endParaRPr lang="en-US" sz="2500" dirty="0">
              <a:solidFill>
                <a:srgbClr val="1B2B3F"/>
              </a:solidFill>
              <a:latin typeface="Garamond" panose="020204040303010108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D6F0F6-1C05-D398-B083-7972DB608E6F}"/>
              </a:ext>
            </a:extLst>
          </p:cNvPr>
          <p:cNvSpPr txBox="1"/>
          <p:nvPr/>
        </p:nvSpPr>
        <p:spPr>
          <a:xfrm>
            <a:off x="508000" y="127000"/>
            <a:ext cx="10414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000" b="1">
                <a:solidFill>
                  <a:srgbClr val="098084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BUSINESS PROBLEM</a:t>
            </a:r>
          </a:p>
        </p:txBody>
      </p:sp>
    </p:spTree>
    <p:extLst>
      <p:ext uri="{BB962C8B-B14F-4D97-AF65-F5344CB8AC3E}">
        <p14:creationId xmlns:p14="http://schemas.microsoft.com/office/powerpoint/2010/main" val="2130059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Decorative theme background" descr="AI generated abstract blue and mint ribbon background, decorative only">
            <a:extLst>
              <a:ext uri="{FF2B5EF4-FFF2-40B4-BE49-F238E27FC236}">
                <a16:creationId xmlns:a16="http://schemas.microsoft.com/office/drawing/2014/main" id="{45A469B5-84B5-A75B-CEB0-069D54F57CD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A8A9D9B-CC30-5C4D-AC3B-5A53A68DF753}"/>
              </a:ext>
            </a:extLst>
          </p:cNvPr>
          <p:cNvSpPr txBox="1"/>
          <p:nvPr/>
        </p:nvSpPr>
        <p:spPr>
          <a:xfrm>
            <a:off x="508000" y="279399"/>
            <a:ext cx="10414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100" b="1">
                <a:solidFill>
                  <a:srgbClr val="098084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INFRASTRUCTURE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D26F04-A471-3331-1FE2-3CDCD3C0960F}"/>
              </a:ext>
            </a:extLst>
          </p:cNvPr>
          <p:cNvSpPr txBox="1"/>
          <p:nvPr/>
        </p:nvSpPr>
        <p:spPr>
          <a:xfrm>
            <a:off x="508000" y="685799"/>
            <a:ext cx="111760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3000" b="1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Infrastructure </a:t>
            </a:r>
            <a:r>
              <a:rPr lang="th-TH" sz="3000" b="1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ที่ใช้รันระบบ</a:t>
            </a:r>
            <a:endParaRPr lang="en-US" sz="3000" b="1">
              <a:solidFill>
                <a:srgbClr val="1B2B3F"/>
              </a:solidFill>
              <a:latin typeface="Garamond" panose="020204040303010108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DF0D27-2ADB-10F9-D1F5-19F6FD630625}"/>
              </a:ext>
            </a:extLst>
          </p:cNvPr>
          <p:cNvSpPr txBox="1"/>
          <p:nvPr/>
        </p:nvSpPr>
        <p:spPr>
          <a:xfrm>
            <a:off x="10731500" y="6477000"/>
            <a:ext cx="952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100">
                <a:solidFill>
                  <a:srgbClr val="4E6076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03 / 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67F1D4-F4BD-87FC-CB17-5D6445CF987C}"/>
              </a:ext>
            </a:extLst>
          </p:cNvPr>
          <p:cNvSpPr txBox="1"/>
          <p:nvPr/>
        </p:nvSpPr>
        <p:spPr>
          <a:xfrm>
            <a:off x="508000" y="1739899"/>
            <a:ext cx="34925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2400" b="1" dirty="0">
                <a:solidFill>
                  <a:srgbClr val="266BC1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React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C65B5C-B3D3-51AB-34C4-A3AFD54D5E88}"/>
              </a:ext>
            </a:extLst>
          </p:cNvPr>
          <p:cNvSpPr txBox="1"/>
          <p:nvPr/>
        </p:nvSpPr>
        <p:spPr>
          <a:xfrm>
            <a:off x="4445000" y="1739899"/>
            <a:ext cx="72390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th-TH" sz="2200" dirty="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สร้าง</a:t>
            </a:r>
            <a:r>
              <a:rPr lang="en-US" sz="2200" dirty="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 Dashboard </a:t>
            </a:r>
            <a:r>
              <a:rPr lang="th-TH" sz="2200" dirty="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และหน้าเว็บ</a:t>
            </a:r>
            <a:endParaRPr lang="en-US" sz="2200" dirty="0">
              <a:solidFill>
                <a:srgbClr val="1B2B3F"/>
              </a:solidFill>
              <a:latin typeface="Garamond" panose="020204040303010108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E2B9E4-9541-A828-2E20-A237E3B591C7}"/>
              </a:ext>
            </a:extLst>
          </p:cNvPr>
          <p:cNvSpPr txBox="1"/>
          <p:nvPr/>
        </p:nvSpPr>
        <p:spPr>
          <a:xfrm>
            <a:off x="508000" y="2501899"/>
            <a:ext cx="34925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2400" b="1">
                <a:solidFill>
                  <a:srgbClr val="266BC1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Nginx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3AA28E-3426-CA9A-064C-8C8E7988FD01}"/>
              </a:ext>
            </a:extLst>
          </p:cNvPr>
          <p:cNvSpPr txBox="1"/>
          <p:nvPr/>
        </p:nvSpPr>
        <p:spPr>
          <a:xfrm>
            <a:off x="4445000" y="2501899"/>
            <a:ext cx="72390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th-TH" sz="220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ให้บริการ </a:t>
            </a:r>
            <a:r>
              <a:rPr lang="en-US" sz="220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HTTPS </a:t>
            </a:r>
            <a:r>
              <a:rPr lang="th-TH" sz="220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และส่งต่อ /</a:t>
            </a:r>
            <a:r>
              <a:rPr lang="en-US" sz="220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api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7FE02D-DE8A-AC31-B897-CDB21BB929D2}"/>
              </a:ext>
            </a:extLst>
          </p:cNvPr>
          <p:cNvSpPr txBox="1"/>
          <p:nvPr/>
        </p:nvSpPr>
        <p:spPr>
          <a:xfrm>
            <a:off x="508000" y="3263899"/>
            <a:ext cx="34925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2400" b="1">
                <a:solidFill>
                  <a:srgbClr val="266BC1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FastAPI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D8CDF7-69BC-FB94-82F1-8115C02BE75E}"/>
              </a:ext>
            </a:extLst>
          </p:cNvPr>
          <p:cNvSpPr txBox="1"/>
          <p:nvPr/>
        </p:nvSpPr>
        <p:spPr>
          <a:xfrm>
            <a:off x="4445000" y="3263899"/>
            <a:ext cx="72390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th-TH" sz="220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ตรวจข้อมูล สิทธิ์ และจัดการ </a:t>
            </a:r>
            <a:r>
              <a:rPr lang="en-US" sz="220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Ticket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E5484B-7C44-DE13-DAC7-D862BB6FCF1E}"/>
              </a:ext>
            </a:extLst>
          </p:cNvPr>
          <p:cNvSpPr txBox="1"/>
          <p:nvPr/>
        </p:nvSpPr>
        <p:spPr>
          <a:xfrm>
            <a:off x="508000" y="4025899"/>
            <a:ext cx="34925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2400" b="1">
                <a:solidFill>
                  <a:srgbClr val="266BC1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PostgreSQL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D1F8BA-BB12-8CDE-F3F8-ABDFEF9FC6D3}"/>
              </a:ext>
            </a:extLst>
          </p:cNvPr>
          <p:cNvSpPr txBox="1"/>
          <p:nvPr/>
        </p:nvSpPr>
        <p:spPr>
          <a:xfrm>
            <a:off x="4445000" y="4025899"/>
            <a:ext cx="72390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th-TH" sz="220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เก็บข้อมูลถาวรเป็นตาราง</a:t>
            </a:r>
            <a:endParaRPr lang="en-US" sz="2200">
              <a:solidFill>
                <a:srgbClr val="1B2B3F"/>
              </a:solidFill>
              <a:latin typeface="Garamond" panose="020204040303010108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9614508-5DB5-AC96-EFB5-EE9B39B0AB68}"/>
              </a:ext>
            </a:extLst>
          </p:cNvPr>
          <p:cNvSpPr txBox="1"/>
          <p:nvPr/>
        </p:nvSpPr>
        <p:spPr>
          <a:xfrm>
            <a:off x="508000" y="4787899"/>
            <a:ext cx="34925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2400" b="1">
                <a:solidFill>
                  <a:srgbClr val="266BC1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Docker Compose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84A58F-0CC8-0D64-3643-1A0C5FB43912}"/>
              </a:ext>
            </a:extLst>
          </p:cNvPr>
          <p:cNvSpPr txBox="1"/>
          <p:nvPr/>
        </p:nvSpPr>
        <p:spPr>
          <a:xfrm>
            <a:off x="4445000" y="4787899"/>
            <a:ext cx="72390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th-TH" sz="2200" dirty="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เปิด </a:t>
            </a:r>
            <a:r>
              <a:rPr lang="en-US" sz="2200" dirty="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web, </a:t>
            </a:r>
            <a:r>
              <a:rPr lang="en-US" sz="2200" dirty="0" err="1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api</a:t>
            </a:r>
            <a:r>
              <a:rPr lang="en-US" sz="2200" dirty="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h-TH" sz="2200" dirty="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และ </a:t>
            </a:r>
            <a:r>
              <a:rPr lang="en-US" sz="2200" dirty="0" err="1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db</a:t>
            </a:r>
            <a:r>
              <a:rPr lang="en-US" sz="2200" dirty="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h-TH" sz="2200" dirty="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พร้อมกัน</a:t>
            </a:r>
            <a:endParaRPr lang="en-US" sz="2200" dirty="0">
              <a:solidFill>
                <a:srgbClr val="1B2B3F"/>
              </a:solidFill>
              <a:latin typeface="Garamond" panose="020204040303010108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28C881-0A74-2E39-002C-3408BA3CB052}"/>
              </a:ext>
            </a:extLst>
          </p:cNvPr>
          <p:cNvSpPr txBox="1"/>
          <p:nvPr/>
        </p:nvSpPr>
        <p:spPr>
          <a:xfrm>
            <a:off x="508000" y="5943599"/>
            <a:ext cx="111760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2000">
                <a:solidFill>
                  <a:srgbClr val="4D5E73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JSON = </a:t>
            </a:r>
            <a:r>
              <a:rPr lang="th-TH" sz="2000">
                <a:solidFill>
                  <a:srgbClr val="4D5E73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รูปแบบรับส่งข้อมูล | </a:t>
            </a:r>
            <a:r>
              <a:rPr lang="en-US" sz="2000">
                <a:solidFill>
                  <a:srgbClr val="4D5E73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PostgreSQL = </a:t>
            </a:r>
            <a:r>
              <a:rPr lang="th-TH" sz="2000">
                <a:solidFill>
                  <a:srgbClr val="4D5E73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ฐานข้อมูล</a:t>
            </a:r>
            <a:endParaRPr lang="en-US" sz="2000">
              <a:solidFill>
                <a:srgbClr val="4D5E73"/>
              </a:solidFill>
              <a:latin typeface="Garamond" panose="020204040303010108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8278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D6057-6B49-BAA0-783C-34F2D52E2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Decorative theme background" descr="AI generated abstract blue and mint ribbon background, decorative only">
            <a:extLst>
              <a:ext uri="{FF2B5EF4-FFF2-40B4-BE49-F238E27FC236}">
                <a16:creationId xmlns:a16="http://schemas.microsoft.com/office/drawing/2014/main" id="{725487E7-94A8-61F4-A0EC-492720E2B26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4467B58-11C4-E315-DD48-1AD883791877}"/>
              </a:ext>
            </a:extLst>
          </p:cNvPr>
          <p:cNvSpPr txBox="1"/>
          <p:nvPr/>
        </p:nvSpPr>
        <p:spPr>
          <a:xfrm>
            <a:off x="508000" y="279399"/>
            <a:ext cx="10414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100" b="1">
                <a:solidFill>
                  <a:srgbClr val="098084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INFRASTRUCTURE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6A9102-8B36-3AF9-7938-88D146DB66AC}"/>
              </a:ext>
            </a:extLst>
          </p:cNvPr>
          <p:cNvSpPr txBox="1"/>
          <p:nvPr/>
        </p:nvSpPr>
        <p:spPr>
          <a:xfrm>
            <a:off x="508000" y="685799"/>
            <a:ext cx="111760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3000" b="1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Infrastructure </a:t>
            </a:r>
            <a:r>
              <a:rPr lang="th-TH" sz="3000" b="1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ที่ใช้รันระบบ</a:t>
            </a:r>
            <a:endParaRPr lang="en-US" sz="3000" b="1">
              <a:solidFill>
                <a:srgbClr val="1B2B3F"/>
              </a:solidFill>
              <a:latin typeface="Garamond" panose="020204040303010108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" name="Picture 1" descr="System Flow: Employee login and ticket creation through React, Nginx, FastAPI, and PostgreSQL; Agent and Admin assess priority and audit changes.">
            <a:extLst>
              <a:ext uri="{FF2B5EF4-FFF2-40B4-BE49-F238E27FC236}">
                <a16:creationId xmlns:a16="http://schemas.microsoft.com/office/drawing/2014/main" id="{3E948A17-2D4F-86C6-41A7-7AB76A99710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583"/>
          <a:stretch>
            <a:fillRect/>
          </a:stretch>
        </p:blipFill>
        <p:spPr>
          <a:xfrm>
            <a:off x="1962639" y="1511299"/>
            <a:ext cx="7504721" cy="445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837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Decorative theme background" descr="AI generated abstract blue and mint ribbon background, decorative only">
            <a:extLst>
              <a:ext uri="{FF2B5EF4-FFF2-40B4-BE49-F238E27FC236}">
                <a16:creationId xmlns:a16="http://schemas.microsoft.com/office/drawing/2014/main" id="{5666EC3B-3548-821F-2BF9-8F47CDDBD05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5B99DCE-E5E6-89DA-748D-D6C519AA8FCA}"/>
              </a:ext>
            </a:extLst>
          </p:cNvPr>
          <p:cNvSpPr txBox="1"/>
          <p:nvPr/>
        </p:nvSpPr>
        <p:spPr>
          <a:xfrm>
            <a:off x="508000" y="279399"/>
            <a:ext cx="10414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100" b="1">
                <a:solidFill>
                  <a:srgbClr val="098084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INFRASTRUCTURE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D19C4D-3E97-DE84-B774-278413460ECC}"/>
              </a:ext>
            </a:extLst>
          </p:cNvPr>
          <p:cNvSpPr txBox="1"/>
          <p:nvPr/>
        </p:nvSpPr>
        <p:spPr>
          <a:xfrm>
            <a:off x="508000" y="685799"/>
            <a:ext cx="111760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th-TH" sz="3000" b="1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บริการที่รันจริง และพอร์ตที่เปิด</a:t>
            </a:r>
            <a:endParaRPr lang="en-US" sz="3000" b="1">
              <a:solidFill>
                <a:srgbClr val="1B2B3F"/>
              </a:solidFill>
              <a:latin typeface="Garamond" panose="020204040303010108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3B86D1-FBAA-ADF7-0DA7-DA117C0B4CAC}"/>
              </a:ext>
            </a:extLst>
          </p:cNvPr>
          <p:cNvSpPr txBox="1"/>
          <p:nvPr/>
        </p:nvSpPr>
        <p:spPr>
          <a:xfrm>
            <a:off x="10731500" y="6477000"/>
            <a:ext cx="952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100">
                <a:solidFill>
                  <a:srgbClr val="4E6076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04 / 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1E0716-C10D-B30C-E48D-09E5F524A030}"/>
              </a:ext>
            </a:extLst>
          </p:cNvPr>
          <p:cNvSpPr txBox="1"/>
          <p:nvPr/>
        </p:nvSpPr>
        <p:spPr>
          <a:xfrm>
            <a:off x="508000" y="1701799"/>
            <a:ext cx="111760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230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web   80 / 443</a:t>
            </a:r>
          </a:p>
          <a:p>
            <a:pPr>
              <a:spcAft>
                <a:spcPts val="700"/>
              </a:spcAft>
            </a:pPr>
            <a:r>
              <a:rPr lang="en-US" sz="230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api    8000 </a:t>
            </a:r>
            <a:r>
              <a:rPr lang="th-TH" sz="230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ภายใน </a:t>
            </a:r>
            <a:r>
              <a:rPr lang="en-US" sz="230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Docker</a:t>
            </a:r>
          </a:p>
          <a:p>
            <a:pPr>
              <a:spcAft>
                <a:spcPts val="700"/>
              </a:spcAft>
            </a:pPr>
            <a:r>
              <a:rPr lang="en-US" sz="230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db     5432 </a:t>
            </a:r>
            <a:r>
              <a:rPr lang="th-TH" sz="230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ภายใน </a:t>
            </a:r>
            <a:r>
              <a:rPr lang="en-US" sz="230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Docker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C9CB62-68F2-9DB5-23C2-651EEC0C62D5}"/>
              </a:ext>
            </a:extLst>
          </p:cNvPr>
          <p:cNvSpPr txBox="1"/>
          <p:nvPr/>
        </p:nvSpPr>
        <p:spPr>
          <a:xfrm>
            <a:off x="508000" y="6172199"/>
            <a:ext cx="10033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500" dirty="0">
                <a:solidFill>
                  <a:srgbClr val="4D5E73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Docker Desktop: web, </a:t>
            </a:r>
            <a:r>
              <a:rPr lang="en-US" sz="1500" dirty="0" err="1">
                <a:solidFill>
                  <a:srgbClr val="4D5E73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api</a:t>
            </a:r>
            <a:r>
              <a:rPr lang="en-US" sz="1500" dirty="0">
                <a:solidFill>
                  <a:srgbClr val="4D5E73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h-TH" sz="1500" dirty="0">
                <a:solidFill>
                  <a:srgbClr val="4D5E73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และ </a:t>
            </a:r>
            <a:r>
              <a:rPr lang="en-US" sz="1500" dirty="0" err="1">
                <a:solidFill>
                  <a:srgbClr val="4D5E73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db</a:t>
            </a:r>
            <a:r>
              <a:rPr lang="en-US" sz="1500" dirty="0">
                <a:solidFill>
                  <a:srgbClr val="4D5E73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h-TH" sz="1500" dirty="0">
                <a:solidFill>
                  <a:srgbClr val="4D5E73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กำลังรัน · </a:t>
            </a:r>
            <a:r>
              <a:rPr lang="en-US" sz="1500" dirty="0">
                <a:solidFill>
                  <a:srgbClr val="4D5E73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API / DB </a:t>
            </a:r>
            <a:r>
              <a:rPr lang="th-TH" sz="1500" dirty="0">
                <a:solidFill>
                  <a:srgbClr val="4D5E73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ไม่มี </a:t>
            </a:r>
            <a:r>
              <a:rPr lang="en-US" sz="1500" dirty="0">
                <a:solidFill>
                  <a:srgbClr val="4D5E73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host port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BEE860-D2A7-44EE-4E1A-7E07A24CDF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33" y="3324203"/>
            <a:ext cx="10407133" cy="2181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760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Decorative theme background" descr="AI generated abstract blue and mint ribbon background, decorative only">
            <a:extLst>
              <a:ext uri="{FF2B5EF4-FFF2-40B4-BE49-F238E27FC236}">
                <a16:creationId xmlns:a16="http://schemas.microsoft.com/office/drawing/2014/main" id="{856C1A81-F3CD-A060-62C1-AFF7A2C3B96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CA21159-7167-4530-6DD7-CA344BA22500}"/>
              </a:ext>
            </a:extLst>
          </p:cNvPr>
          <p:cNvSpPr txBox="1"/>
          <p:nvPr/>
        </p:nvSpPr>
        <p:spPr>
          <a:xfrm>
            <a:off x="508000" y="279399"/>
            <a:ext cx="10414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100" b="1">
                <a:solidFill>
                  <a:srgbClr val="098084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SECURITY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C3D55A-2BA4-85C3-F65A-E2234C9704E9}"/>
              </a:ext>
            </a:extLst>
          </p:cNvPr>
          <p:cNvSpPr txBox="1"/>
          <p:nvPr/>
        </p:nvSpPr>
        <p:spPr>
          <a:xfrm>
            <a:off x="508000" y="685799"/>
            <a:ext cx="111760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3000" b="1" dirty="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Security: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153CBE-21E3-F68C-9A76-7DAE1DA9236D}"/>
              </a:ext>
            </a:extLst>
          </p:cNvPr>
          <p:cNvSpPr txBox="1"/>
          <p:nvPr/>
        </p:nvSpPr>
        <p:spPr>
          <a:xfrm>
            <a:off x="10731500" y="6477000"/>
            <a:ext cx="952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100">
                <a:solidFill>
                  <a:srgbClr val="4E6076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05 / 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C0ADC6-5D6D-C999-9844-40ACCCE2BB2E}"/>
              </a:ext>
            </a:extLst>
          </p:cNvPr>
          <p:cNvSpPr txBox="1"/>
          <p:nvPr/>
        </p:nvSpPr>
        <p:spPr>
          <a:xfrm>
            <a:off x="508000" y="1676399"/>
            <a:ext cx="11176000" cy="177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2400" dirty="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Employee   </a:t>
            </a:r>
            <a:r>
              <a:rPr lang="th-TH" sz="2400" dirty="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ดูเฉพาะคำขอของตน</a:t>
            </a:r>
          </a:p>
          <a:p>
            <a:pPr>
              <a:spcAft>
                <a:spcPts val="700"/>
              </a:spcAft>
            </a:pPr>
            <a:r>
              <a:rPr lang="en-US" sz="2400" dirty="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Agent        </a:t>
            </a:r>
            <a:r>
              <a:rPr lang="th-TH" sz="2400" dirty="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จัดการเฉพาะคิวของฝ่ายตัวเอง</a:t>
            </a:r>
          </a:p>
          <a:p>
            <a:pPr>
              <a:spcAft>
                <a:spcPts val="700"/>
              </a:spcAft>
            </a:pPr>
            <a:r>
              <a:rPr lang="en-US" sz="2400" dirty="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Admin        </a:t>
            </a:r>
            <a:r>
              <a:rPr lang="th-TH" sz="2400" dirty="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ดูและจัดลำดับงานทุกฝ่าย</a:t>
            </a:r>
            <a:endParaRPr lang="en-US" sz="2400" dirty="0">
              <a:solidFill>
                <a:srgbClr val="1B2B3F"/>
              </a:solidFill>
              <a:latin typeface="Garamond" panose="020204040303010108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5474F5-2CFA-447C-30B3-2FF421AE0F9B}"/>
              </a:ext>
            </a:extLst>
          </p:cNvPr>
          <p:cNvSpPr txBox="1"/>
          <p:nvPr/>
        </p:nvSpPr>
        <p:spPr>
          <a:xfrm>
            <a:off x="508000" y="3759199"/>
            <a:ext cx="50800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2400" b="1">
                <a:solidFill>
                  <a:srgbClr val="266BC1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Login </a:t>
            </a:r>
            <a:r>
              <a:rPr lang="th-TH" sz="2400" b="1">
                <a:solidFill>
                  <a:srgbClr val="266BC1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และข้อมูลลับ</a:t>
            </a:r>
            <a:endParaRPr lang="en-US" sz="2400" b="1">
              <a:solidFill>
                <a:srgbClr val="266BC1"/>
              </a:solidFill>
              <a:latin typeface="Garamond" panose="020204040303010108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D21DEB-1754-2B33-1F6F-420B4B6FF739}"/>
              </a:ext>
            </a:extLst>
          </p:cNvPr>
          <p:cNvSpPr txBox="1"/>
          <p:nvPr/>
        </p:nvSpPr>
        <p:spPr>
          <a:xfrm>
            <a:off x="508000" y="4406899"/>
            <a:ext cx="5207000" cy="170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th-TH" sz="2200" dirty="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รหัสผ่านเก็บเป็น </a:t>
            </a:r>
            <a:r>
              <a:rPr lang="en-US" sz="2200" dirty="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hash</a:t>
            </a:r>
          </a:p>
          <a:p>
            <a:pPr>
              <a:spcAft>
                <a:spcPts val="700"/>
              </a:spcAft>
            </a:pPr>
            <a:r>
              <a:rPr lang="en-US" sz="2200" dirty="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JWT </a:t>
            </a:r>
            <a:r>
              <a:rPr lang="th-TH" sz="2200" dirty="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ยืนยันผู้ใช้หลัง </a:t>
            </a:r>
            <a:r>
              <a:rPr lang="en-US" sz="2200" dirty="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Login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806111-2668-7B18-6AF6-CB9EF2F20678}"/>
              </a:ext>
            </a:extLst>
          </p:cNvPr>
          <p:cNvSpPr txBox="1"/>
          <p:nvPr/>
        </p:nvSpPr>
        <p:spPr>
          <a:xfrm>
            <a:off x="6413500" y="3759199"/>
            <a:ext cx="52705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th-TH" sz="2400" b="1">
                <a:solidFill>
                  <a:srgbClr val="266BC1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การเชื่อมต่อ</a:t>
            </a:r>
            <a:endParaRPr lang="en-US" sz="2400" b="1">
              <a:solidFill>
                <a:srgbClr val="266BC1"/>
              </a:solidFill>
              <a:latin typeface="Garamond" panose="020204040303010108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714FCD-66BA-B047-09E8-81322CBF3270}"/>
              </a:ext>
            </a:extLst>
          </p:cNvPr>
          <p:cNvSpPr txBox="1"/>
          <p:nvPr/>
        </p:nvSpPr>
        <p:spPr>
          <a:xfrm>
            <a:off x="6413500" y="4406899"/>
            <a:ext cx="5270500" cy="170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2200" dirty="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Browser </a:t>
            </a:r>
            <a:r>
              <a:rPr lang="th-TH" sz="2200" dirty="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ใช้ </a:t>
            </a:r>
            <a:r>
              <a:rPr lang="en-US" sz="2200" dirty="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HTTPS </a:t>
            </a:r>
            <a:r>
              <a:rPr lang="th-TH" sz="2200" dirty="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ผ่าน </a:t>
            </a:r>
            <a:r>
              <a:rPr lang="en-US" sz="2200" dirty="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Nginx</a:t>
            </a:r>
          </a:p>
          <a:p>
            <a:pPr>
              <a:spcAft>
                <a:spcPts val="700"/>
              </a:spcAft>
            </a:pPr>
            <a:r>
              <a:rPr lang="en-US" sz="2200" dirty="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API / DB </a:t>
            </a:r>
            <a:r>
              <a:rPr lang="th-TH" sz="2200" dirty="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ไม่เปิด </a:t>
            </a:r>
            <a:r>
              <a:rPr lang="en-US" sz="2200" dirty="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host port</a:t>
            </a:r>
          </a:p>
        </p:txBody>
      </p:sp>
    </p:spTree>
    <p:extLst>
      <p:ext uri="{BB962C8B-B14F-4D97-AF65-F5344CB8AC3E}">
        <p14:creationId xmlns:p14="http://schemas.microsoft.com/office/powerpoint/2010/main" val="4292612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Decorative theme background" descr="AI generated abstract blue and mint ribbon background, decorative only">
            <a:extLst>
              <a:ext uri="{FF2B5EF4-FFF2-40B4-BE49-F238E27FC236}">
                <a16:creationId xmlns:a16="http://schemas.microsoft.com/office/drawing/2014/main" id="{7F617A31-4FBC-14E7-0DC2-0A3C83C827F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598365-8185-4E31-719B-6381701B82AC}"/>
              </a:ext>
            </a:extLst>
          </p:cNvPr>
          <p:cNvSpPr txBox="1"/>
          <p:nvPr/>
        </p:nvSpPr>
        <p:spPr>
          <a:xfrm>
            <a:off x="508000" y="279399"/>
            <a:ext cx="10414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100" b="1">
                <a:solidFill>
                  <a:srgbClr val="098084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FEATURES · LOGIN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69C91B-74BC-1794-E1CF-86C4B0D1A415}"/>
              </a:ext>
            </a:extLst>
          </p:cNvPr>
          <p:cNvSpPr txBox="1"/>
          <p:nvPr/>
        </p:nvSpPr>
        <p:spPr>
          <a:xfrm>
            <a:off x="508000" y="685799"/>
            <a:ext cx="111760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3000" b="1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Login: </a:t>
            </a:r>
            <a:r>
              <a:rPr lang="th-TH" sz="3000" b="1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เข้าสู่พื้นที่ของแต่ละบทบาท</a:t>
            </a:r>
            <a:endParaRPr lang="en-US" sz="3000" b="1">
              <a:solidFill>
                <a:srgbClr val="1B2B3F"/>
              </a:solidFill>
              <a:latin typeface="Garamond" panose="020204040303010108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8477C1-A8C9-F79F-7B48-17DF871E4061}"/>
              </a:ext>
            </a:extLst>
          </p:cNvPr>
          <p:cNvSpPr txBox="1"/>
          <p:nvPr/>
        </p:nvSpPr>
        <p:spPr>
          <a:xfrm>
            <a:off x="10731500" y="6477000"/>
            <a:ext cx="952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100">
                <a:solidFill>
                  <a:srgbClr val="4E6076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06 / 12</a:t>
            </a:r>
          </a:p>
        </p:txBody>
      </p:sp>
      <p:pic>
        <p:nvPicPr>
          <p:cNvPr id="11" name="Screenshot login" descr="ภาพหน้าจอจริงของ TicketCenter / localhost หรือ Docker Desktop ถ่ายวันที่ 2 ตุลาคม 2569">
            <a:extLst>
              <a:ext uri="{FF2B5EF4-FFF2-40B4-BE49-F238E27FC236}">
                <a16:creationId xmlns:a16="http://schemas.microsoft.com/office/drawing/2014/main" id="{10C2A1EE-C509-A46E-975C-7CCD9C068E4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600200"/>
            <a:ext cx="7874000" cy="4432300"/>
          </a:xfrm>
          <a:prstGeom prst="rect">
            <a:avLst/>
          </a:prstGeom>
          <a:ln w="7620">
            <a:solidFill>
              <a:srgbClr val="CAD7E4"/>
            </a:solidFill>
          </a:ln>
          <a:effectLst>
            <a:prstShdw prst="shdw1" dist="40161" dir="4293903">
              <a:srgbClr val="26405D">
                <a:alpha val="12000"/>
              </a:srgbClr>
            </a:prst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A218753-BEC0-3405-D10B-0BDB1C62C7C0}"/>
              </a:ext>
            </a:extLst>
          </p:cNvPr>
          <p:cNvSpPr txBox="1"/>
          <p:nvPr/>
        </p:nvSpPr>
        <p:spPr>
          <a:xfrm>
            <a:off x="8826500" y="1739899"/>
            <a:ext cx="2857500" cy="431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th-TH" sz="2000" dirty="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มีบัญชีทั้งหมด </a:t>
            </a:r>
            <a:r>
              <a:rPr lang="en-US" sz="2000" dirty="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3 </a:t>
            </a:r>
            <a:r>
              <a:rPr lang="th-TH" sz="2000" dirty="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บทบาท</a:t>
            </a:r>
            <a:endParaRPr lang="en-US" sz="2000" dirty="0">
              <a:solidFill>
                <a:srgbClr val="1B2B3F"/>
              </a:solidFill>
              <a:latin typeface="Garamond" panose="020204040303010108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Aft>
                <a:spcPts val="700"/>
              </a:spcAft>
            </a:pPr>
            <a:r>
              <a:rPr lang="en-US" sz="2000" dirty="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- Employee</a:t>
            </a:r>
            <a:endParaRPr lang="th-TH" sz="2000" dirty="0">
              <a:solidFill>
                <a:srgbClr val="1B2B3F"/>
              </a:solidFill>
              <a:latin typeface="Garamond" panose="020204040303010108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Aft>
                <a:spcPts val="700"/>
              </a:spcAft>
            </a:pPr>
            <a:r>
              <a:rPr lang="en-US" sz="2000" dirty="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- IT / HR Agent</a:t>
            </a:r>
            <a:endParaRPr lang="th-TH" sz="2000" dirty="0">
              <a:solidFill>
                <a:srgbClr val="1B2B3F"/>
              </a:solidFill>
              <a:latin typeface="Garamond" panose="020204040303010108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Aft>
                <a:spcPts val="700"/>
              </a:spcAft>
            </a:pPr>
            <a:r>
              <a:rPr lang="en-US" sz="2000" dirty="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- Admin</a:t>
            </a:r>
          </a:p>
        </p:txBody>
      </p:sp>
    </p:spTree>
    <p:extLst>
      <p:ext uri="{BB962C8B-B14F-4D97-AF65-F5344CB8AC3E}">
        <p14:creationId xmlns:p14="http://schemas.microsoft.com/office/powerpoint/2010/main" val="1248169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Decorative theme background" descr="AI generated abstract blue and mint ribbon background, decorative only">
            <a:extLst>
              <a:ext uri="{FF2B5EF4-FFF2-40B4-BE49-F238E27FC236}">
                <a16:creationId xmlns:a16="http://schemas.microsoft.com/office/drawing/2014/main" id="{69D93BC5-A52D-E3E2-52BB-9511E771AEA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9CD16E-2B93-D2EA-2198-3723C04876BD}"/>
              </a:ext>
            </a:extLst>
          </p:cNvPr>
          <p:cNvSpPr txBox="1"/>
          <p:nvPr/>
        </p:nvSpPr>
        <p:spPr>
          <a:xfrm>
            <a:off x="508000" y="279399"/>
            <a:ext cx="10414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100" b="1">
                <a:solidFill>
                  <a:srgbClr val="098084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FEATURES · EMPLOYEE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763F32-EAFC-158E-96AB-C89BDA171218}"/>
              </a:ext>
            </a:extLst>
          </p:cNvPr>
          <p:cNvSpPr txBox="1"/>
          <p:nvPr/>
        </p:nvSpPr>
        <p:spPr>
          <a:xfrm>
            <a:off x="508000" y="685799"/>
            <a:ext cx="111760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3000" b="1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Employee: </a:t>
            </a:r>
            <a:r>
              <a:rPr lang="th-TH" sz="3000" b="1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รวมคำขอของตัวเองไว้ที่เดียว</a:t>
            </a:r>
            <a:endParaRPr lang="en-US" sz="3000" b="1">
              <a:solidFill>
                <a:srgbClr val="1B2B3F"/>
              </a:solidFill>
              <a:latin typeface="Garamond" panose="020204040303010108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72D40E-1875-A76C-6AB6-3657221164F9}"/>
              </a:ext>
            </a:extLst>
          </p:cNvPr>
          <p:cNvSpPr txBox="1"/>
          <p:nvPr/>
        </p:nvSpPr>
        <p:spPr>
          <a:xfrm>
            <a:off x="10731500" y="6477000"/>
            <a:ext cx="952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100">
                <a:solidFill>
                  <a:srgbClr val="4E6076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07 / 12</a:t>
            </a:r>
          </a:p>
        </p:txBody>
      </p:sp>
      <p:pic>
        <p:nvPicPr>
          <p:cNvPr id="11" name="Screenshot employee-wide" descr="ภาพหน้าจอจริงของ TicketCenter / localhost หรือ Docker Desktop ถ่ายวันที่ 2 ตุลาคม 2569">
            <a:extLst>
              <a:ext uri="{FF2B5EF4-FFF2-40B4-BE49-F238E27FC236}">
                <a16:creationId xmlns:a16="http://schemas.microsoft.com/office/drawing/2014/main" id="{71CB04E6-F876-A72F-42BB-D744F47B169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676400"/>
            <a:ext cx="11176000" cy="4152900"/>
          </a:xfrm>
          <a:prstGeom prst="rect">
            <a:avLst/>
          </a:prstGeom>
          <a:ln w="7620">
            <a:solidFill>
              <a:srgbClr val="CAD7E4"/>
            </a:solidFill>
          </a:ln>
          <a:effectLst>
            <a:prstShdw prst="shdw1" dist="40161" dir="4293903">
              <a:srgbClr val="26405D">
                <a:alpha val="12000"/>
              </a:srgbClr>
            </a:prst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7265017-11FE-3B58-92AC-0C245AA25582}"/>
              </a:ext>
            </a:extLst>
          </p:cNvPr>
          <p:cNvSpPr txBox="1"/>
          <p:nvPr/>
        </p:nvSpPr>
        <p:spPr>
          <a:xfrm>
            <a:off x="508000" y="6057899"/>
            <a:ext cx="111760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th-TH" sz="2000" b="1">
                <a:solidFill>
                  <a:srgbClr val="266BC1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ค้นหา / กรองสถานะ · ดูฝ่ายรับผิดชอบ · ตรวจสถานะและอายุงาน</a:t>
            </a:r>
            <a:endParaRPr lang="en-US" sz="2000" b="1">
              <a:solidFill>
                <a:srgbClr val="266BC1"/>
              </a:solidFill>
              <a:latin typeface="Garamond" panose="020204040303010108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1411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Decorative theme background" descr="AI generated abstract blue and mint ribbon background, decorative only">
            <a:extLst>
              <a:ext uri="{FF2B5EF4-FFF2-40B4-BE49-F238E27FC236}">
                <a16:creationId xmlns:a16="http://schemas.microsoft.com/office/drawing/2014/main" id="{8361E3AD-357E-8421-556B-163356E0515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FF98B7-E9E9-9758-92A4-C96CFFE728AC}"/>
              </a:ext>
            </a:extLst>
          </p:cNvPr>
          <p:cNvSpPr txBox="1"/>
          <p:nvPr/>
        </p:nvSpPr>
        <p:spPr>
          <a:xfrm>
            <a:off x="508000" y="279399"/>
            <a:ext cx="10414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100" b="1">
                <a:solidFill>
                  <a:srgbClr val="098084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FEATURES · CREATE TICKET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46F09D-BAC3-C423-723A-DBBEFFD7EAE6}"/>
              </a:ext>
            </a:extLst>
          </p:cNvPr>
          <p:cNvSpPr txBox="1"/>
          <p:nvPr/>
        </p:nvSpPr>
        <p:spPr>
          <a:xfrm>
            <a:off x="508000" y="685799"/>
            <a:ext cx="111760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th-TH" sz="3000" b="1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สร้าง </a:t>
            </a:r>
            <a:r>
              <a:rPr lang="en-US" sz="3000" b="1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Ticket: </a:t>
            </a:r>
            <a:r>
              <a:rPr lang="th-TH" sz="3000" b="1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แจ้งปัญหาและผลกระทบ</a:t>
            </a:r>
            <a:endParaRPr lang="en-US" sz="3000" b="1">
              <a:solidFill>
                <a:srgbClr val="1B2B3F"/>
              </a:solidFill>
              <a:latin typeface="Garamond" panose="020204040303010108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770CF2-2CCD-4639-15FF-8D06F7F38396}"/>
              </a:ext>
            </a:extLst>
          </p:cNvPr>
          <p:cNvSpPr txBox="1"/>
          <p:nvPr/>
        </p:nvSpPr>
        <p:spPr>
          <a:xfrm>
            <a:off x="10731500" y="6477000"/>
            <a:ext cx="952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100">
                <a:solidFill>
                  <a:srgbClr val="4E6076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08 / 12</a:t>
            </a:r>
          </a:p>
        </p:txBody>
      </p:sp>
      <p:pic>
        <p:nvPicPr>
          <p:cNvPr id="12" name="Screenshot form" descr="ภาพหน้าจอจริงของ TicketCenter / localhost หรือ Docker Desktop ถ่ายวันที่ 2 ตุลาคม 2569">
            <a:extLst>
              <a:ext uri="{FF2B5EF4-FFF2-40B4-BE49-F238E27FC236}">
                <a16:creationId xmlns:a16="http://schemas.microsoft.com/office/drawing/2014/main" id="{B1FB79A9-BAEC-9A9B-5700-6A6B05533CAE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587500"/>
            <a:ext cx="4318000" cy="4749800"/>
          </a:xfrm>
          <a:prstGeom prst="rect">
            <a:avLst/>
          </a:prstGeom>
          <a:ln w="7620">
            <a:solidFill>
              <a:srgbClr val="CAD7E4"/>
            </a:solidFill>
          </a:ln>
          <a:effectLst>
            <a:prstShdw prst="shdw1" dist="40161" dir="4293903">
              <a:srgbClr val="26405D">
                <a:alpha val="12000"/>
              </a:srgbClr>
            </a:prst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276054A-E053-4CF7-E923-87E16533BACB}"/>
              </a:ext>
            </a:extLst>
          </p:cNvPr>
          <p:cNvSpPr txBox="1"/>
          <p:nvPr/>
        </p:nvSpPr>
        <p:spPr>
          <a:xfrm>
            <a:off x="5397500" y="1765299"/>
            <a:ext cx="6286500" cy="166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th-TH" sz="240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เลือกหมวด </a:t>
            </a:r>
            <a:r>
              <a:rPr lang="en-US" sz="240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IT </a:t>
            </a:r>
            <a:r>
              <a:rPr lang="th-TH" sz="240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หรือ </a:t>
            </a:r>
            <a:r>
              <a:rPr lang="en-US" sz="240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HR</a:t>
            </a:r>
          </a:p>
          <a:p>
            <a:pPr>
              <a:spcAft>
                <a:spcPts val="700"/>
              </a:spcAft>
            </a:pPr>
            <a:r>
              <a:rPr lang="th-TH" sz="240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ระบุหัวข้อและรายละเอียด</a:t>
            </a:r>
          </a:p>
          <a:p>
            <a:pPr>
              <a:spcAft>
                <a:spcPts val="700"/>
              </a:spcAft>
            </a:pPr>
            <a:r>
              <a:rPr lang="th-TH" sz="2400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อธิบายผลกระทบที่เกิดขึ้น</a:t>
            </a:r>
            <a:endParaRPr lang="en-US" sz="2400">
              <a:solidFill>
                <a:srgbClr val="1B2B3F"/>
              </a:solidFill>
              <a:latin typeface="Garamond" panose="020204040303010108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2335B3-8121-F2C8-A3F8-036A5193FCA4}"/>
              </a:ext>
            </a:extLst>
          </p:cNvPr>
          <p:cNvSpPr txBox="1"/>
          <p:nvPr/>
        </p:nvSpPr>
        <p:spPr>
          <a:xfrm>
            <a:off x="5397500" y="3809999"/>
            <a:ext cx="62865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2400" b="1">
                <a:solidFill>
                  <a:srgbClr val="266BC1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Backend </a:t>
            </a:r>
            <a:r>
              <a:rPr lang="th-TH" sz="2400" b="1">
                <a:solidFill>
                  <a:srgbClr val="266BC1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ตรวจหมวดและส่งเข้าคิว</a:t>
            </a:r>
            <a:endParaRPr lang="en-US" sz="2400" b="1">
              <a:solidFill>
                <a:srgbClr val="266BC1"/>
              </a:solidFill>
              <a:latin typeface="Garamond" panose="020204040303010108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AD0A93-37BD-87B1-9E93-6A085315573D}"/>
              </a:ext>
            </a:extLst>
          </p:cNvPr>
          <p:cNvSpPr txBox="1"/>
          <p:nvPr/>
        </p:nvSpPr>
        <p:spPr>
          <a:xfrm>
            <a:off x="5397500" y="4635499"/>
            <a:ext cx="6286500" cy="1295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endParaRPr lang="en-US" sz="2300" dirty="0">
              <a:solidFill>
                <a:srgbClr val="1B2B3F"/>
              </a:solidFill>
              <a:latin typeface="Garamond" panose="020204040303010108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30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Decorative theme background" descr="AI generated abstract blue and mint ribbon background, decorative only">
            <a:extLst>
              <a:ext uri="{FF2B5EF4-FFF2-40B4-BE49-F238E27FC236}">
                <a16:creationId xmlns:a16="http://schemas.microsoft.com/office/drawing/2014/main" id="{8D6FD5D7-B3F4-C7C1-4C58-62B0A3C1629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D77EA4-E612-8595-4237-B480344AC752}"/>
              </a:ext>
            </a:extLst>
          </p:cNvPr>
          <p:cNvSpPr txBox="1"/>
          <p:nvPr/>
        </p:nvSpPr>
        <p:spPr>
          <a:xfrm>
            <a:off x="508000" y="279399"/>
            <a:ext cx="10414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100" b="1">
                <a:solidFill>
                  <a:srgbClr val="098084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FEATURES · DEPARTMENT QUEUES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A5EF21-4236-BCD5-F9AB-C6E88591F27D}"/>
              </a:ext>
            </a:extLst>
          </p:cNvPr>
          <p:cNvSpPr txBox="1"/>
          <p:nvPr/>
        </p:nvSpPr>
        <p:spPr>
          <a:xfrm>
            <a:off x="508000" y="685799"/>
            <a:ext cx="111760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3000" b="1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Agent: </a:t>
            </a:r>
            <a:r>
              <a:rPr lang="th-TH" sz="3000" b="1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แต่ละฝ่ายมีคิวของตัวเอง</a:t>
            </a:r>
            <a:endParaRPr lang="en-US" sz="3000" b="1">
              <a:solidFill>
                <a:srgbClr val="1B2B3F"/>
              </a:solidFill>
              <a:latin typeface="Garamond" panose="020204040303010108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1CCA8F-CB8A-52D0-706F-43B4E0732985}"/>
              </a:ext>
            </a:extLst>
          </p:cNvPr>
          <p:cNvSpPr txBox="1"/>
          <p:nvPr/>
        </p:nvSpPr>
        <p:spPr>
          <a:xfrm>
            <a:off x="10731500" y="6477000"/>
            <a:ext cx="952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100">
                <a:solidFill>
                  <a:srgbClr val="4E6076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09 / 12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601471-9CDB-0FBF-41B0-19978A024CEC}"/>
              </a:ext>
            </a:extLst>
          </p:cNvPr>
          <p:cNvSpPr txBox="1"/>
          <p:nvPr/>
        </p:nvSpPr>
        <p:spPr>
          <a:xfrm>
            <a:off x="508000" y="1574799"/>
            <a:ext cx="53975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th-TH" sz="1900" b="1">
                <a:solidFill>
                  <a:srgbClr val="266BC1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ฝ่ายเทคโนโลยีสารสนเทศ (</a:t>
            </a:r>
            <a:r>
              <a:rPr lang="en-US" sz="1900" b="1">
                <a:solidFill>
                  <a:srgbClr val="266BC1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IT)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1269D5-060E-54D9-71AD-0562DD43D2A5}"/>
              </a:ext>
            </a:extLst>
          </p:cNvPr>
          <p:cNvSpPr txBox="1"/>
          <p:nvPr/>
        </p:nvSpPr>
        <p:spPr>
          <a:xfrm>
            <a:off x="6286500" y="1574799"/>
            <a:ext cx="53975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th-TH" sz="1900" b="1">
                <a:solidFill>
                  <a:srgbClr val="266BC1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ฝ่ายทรัพยากรบุคคล (</a:t>
            </a:r>
            <a:r>
              <a:rPr lang="en-US" sz="1900" b="1">
                <a:solidFill>
                  <a:srgbClr val="266BC1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HR)</a:t>
            </a:r>
          </a:p>
        </p:txBody>
      </p:sp>
      <p:pic>
        <p:nvPicPr>
          <p:cNvPr id="13" name="Screenshot it-queue" descr="ภาพหน้าจอจริงของ TicketCenter / localhost หรือ Docker Desktop ถ่ายวันที่ 2 ตุลาคม 2569">
            <a:extLst>
              <a:ext uri="{FF2B5EF4-FFF2-40B4-BE49-F238E27FC236}">
                <a16:creationId xmlns:a16="http://schemas.microsoft.com/office/drawing/2014/main" id="{56F8EF25-7445-F3EA-1678-815EB7B3E04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2057400"/>
            <a:ext cx="5397500" cy="3937000"/>
          </a:xfrm>
          <a:prstGeom prst="rect">
            <a:avLst/>
          </a:prstGeom>
          <a:ln w="7620">
            <a:solidFill>
              <a:srgbClr val="CAD7E4"/>
            </a:solidFill>
          </a:ln>
          <a:effectLst>
            <a:prstShdw prst="shdw1" dist="40161" dir="4293903">
              <a:srgbClr val="26405D">
                <a:alpha val="12000"/>
              </a:srgbClr>
            </a:prstShdw>
          </a:effectLst>
        </p:spPr>
      </p:pic>
      <p:pic>
        <p:nvPicPr>
          <p:cNvPr id="15" name="Screenshot hr-queue" descr="ภาพหน้าจอจริงของ TicketCenter / localhost หรือ Docker Desktop ถ่ายวันที่ 2 ตุลาคม 2569">
            <a:extLst>
              <a:ext uri="{FF2B5EF4-FFF2-40B4-BE49-F238E27FC236}">
                <a16:creationId xmlns:a16="http://schemas.microsoft.com/office/drawing/2014/main" id="{E219DF76-4A5C-C277-D042-7F2710658311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0" y="2057400"/>
            <a:ext cx="5397500" cy="3937000"/>
          </a:xfrm>
          <a:prstGeom prst="rect">
            <a:avLst/>
          </a:prstGeom>
          <a:ln w="7620">
            <a:solidFill>
              <a:srgbClr val="CAD7E4"/>
            </a:solidFill>
          </a:ln>
          <a:effectLst>
            <a:prstShdw prst="shdw1" dist="40161" dir="4293903">
              <a:srgbClr val="26405D">
                <a:alpha val="12000"/>
              </a:srgbClr>
            </a:prst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16D121C-70F9-351C-2F74-621E9B0C6E1E}"/>
              </a:ext>
            </a:extLst>
          </p:cNvPr>
          <p:cNvSpPr txBox="1"/>
          <p:nvPr/>
        </p:nvSpPr>
        <p:spPr>
          <a:xfrm>
            <a:off x="508000" y="6121399"/>
            <a:ext cx="111760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b="1">
                <a:solidFill>
                  <a:srgbClr val="266BC1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Agent </a:t>
            </a:r>
            <a:r>
              <a:rPr lang="th-TH" b="1">
                <a:solidFill>
                  <a:srgbClr val="266BC1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จัดระดับ </a:t>
            </a:r>
            <a:r>
              <a:rPr lang="en-US" b="1">
                <a:solidFill>
                  <a:srgbClr val="266BC1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Normal / Urgent · </a:t>
            </a:r>
            <a:r>
              <a:rPr lang="th-TH" b="1">
                <a:solidFill>
                  <a:srgbClr val="266BC1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รับงาน / ปิดงานต้องยืนยันก่อน</a:t>
            </a:r>
            <a:endParaRPr lang="en-US" b="1">
              <a:solidFill>
                <a:srgbClr val="266BC1"/>
              </a:solidFill>
              <a:latin typeface="Garamond" panose="020204040303010108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304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Decorative theme background" descr="AI generated abstract blue and mint ribbon background, decorative only">
            <a:extLst>
              <a:ext uri="{FF2B5EF4-FFF2-40B4-BE49-F238E27FC236}">
                <a16:creationId xmlns:a16="http://schemas.microsoft.com/office/drawing/2014/main" id="{48B38602-B0E7-875C-44FD-E7B422BEE44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5C9A8CE-B488-0E69-3B68-FED549B87F5C}"/>
              </a:ext>
            </a:extLst>
          </p:cNvPr>
          <p:cNvSpPr txBox="1"/>
          <p:nvPr/>
        </p:nvSpPr>
        <p:spPr>
          <a:xfrm>
            <a:off x="508000" y="279399"/>
            <a:ext cx="10414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100" b="1">
                <a:solidFill>
                  <a:srgbClr val="098084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FEATURES · CONVERSATION &amp; ACTIVITY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BC5032-C4DA-04C5-C8B8-66FB43276D1C}"/>
              </a:ext>
            </a:extLst>
          </p:cNvPr>
          <p:cNvSpPr txBox="1"/>
          <p:nvPr/>
        </p:nvSpPr>
        <p:spPr>
          <a:xfrm>
            <a:off x="508000" y="685799"/>
            <a:ext cx="111760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th-TH" sz="3000" b="1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แชทและประวัติ: ทุกเรื่องอยู่ใน </a:t>
            </a:r>
            <a:r>
              <a:rPr lang="en-US" sz="3000" b="1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Ticket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81A2E7-6FBB-0106-26A9-FFD8B5332247}"/>
              </a:ext>
            </a:extLst>
          </p:cNvPr>
          <p:cNvSpPr txBox="1"/>
          <p:nvPr/>
        </p:nvSpPr>
        <p:spPr>
          <a:xfrm>
            <a:off x="10731500" y="6477000"/>
            <a:ext cx="952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100">
                <a:solidFill>
                  <a:srgbClr val="4E6076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10 / 12</a:t>
            </a:r>
          </a:p>
        </p:txBody>
      </p:sp>
      <p:pic>
        <p:nvPicPr>
          <p:cNvPr id="13" name="Screenshot chat" descr="ภาพหน้าจอจริงของ TicketCenter / localhost หรือ Docker Desktop ถ่ายวันที่ 2 ตุลาคม 2569">
            <a:extLst>
              <a:ext uri="{FF2B5EF4-FFF2-40B4-BE49-F238E27FC236}">
                <a16:creationId xmlns:a16="http://schemas.microsoft.com/office/drawing/2014/main" id="{DCCEF70A-9F34-0391-09CB-4E0A15054D1B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689100"/>
            <a:ext cx="5461000" cy="3657600"/>
          </a:xfrm>
          <a:prstGeom prst="rect">
            <a:avLst/>
          </a:prstGeom>
          <a:ln w="7620">
            <a:solidFill>
              <a:srgbClr val="CAD7E4"/>
            </a:solidFill>
          </a:ln>
          <a:effectLst>
            <a:prstShdw prst="shdw1" dist="40161" dir="4293903">
              <a:srgbClr val="26405D">
                <a:alpha val="12000"/>
              </a:srgbClr>
            </a:prstShdw>
          </a:effectLst>
        </p:spPr>
      </p:pic>
      <p:pic>
        <p:nvPicPr>
          <p:cNvPr id="15" name="Screenshot history" descr="ภาพหน้าจอจริงของ TicketCenter / localhost หรือ Docker Desktop ถ่ายวันที่ 2 ตุลาคม 2569">
            <a:extLst>
              <a:ext uri="{FF2B5EF4-FFF2-40B4-BE49-F238E27FC236}">
                <a16:creationId xmlns:a16="http://schemas.microsoft.com/office/drawing/2014/main" id="{09F7F095-4EF9-53EE-B582-32620AA5D125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1689100"/>
            <a:ext cx="5334000" cy="1841500"/>
          </a:xfrm>
          <a:prstGeom prst="rect">
            <a:avLst/>
          </a:prstGeom>
          <a:ln w="7620">
            <a:solidFill>
              <a:srgbClr val="CAD7E4"/>
            </a:solidFill>
          </a:ln>
          <a:effectLst>
            <a:prstShdw prst="shdw1" dist="40161" dir="4293903">
              <a:srgbClr val="26405D">
                <a:alpha val="12000"/>
              </a:srgbClr>
            </a:prst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2449F46-0562-5F4C-C1A8-D3EE473C1B54}"/>
              </a:ext>
            </a:extLst>
          </p:cNvPr>
          <p:cNvSpPr txBox="1"/>
          <p:nvPr/>
        </p:nvSpPr>
        <p:spPr>
          <a:xfrm>
            <a:off x="6350000" y="3835399"/>
            <a:ext cx="53340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th-TH" sz="2100" b="1">
                <a:solidFill>
                  <a:srgbClr val="266BC1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ตัวเลขข้อความที่ยังไม่อ่าน</a:t>
            </a:r>
            <a:endParaRPr lang="en-US" sz="2100" b="1">
              <a:solidFill>
                <a:srgbClr val="266BC1"/>
              </a:solidFill>
              <a:latin typeface="Garamond" panose="020204040303010108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8" name="Screenshot unread" descr="ภาพหน้าจอจริงของ TicketCenter / localhost หรือ Docker Desktop ถ่ายวันที่ 2 ตุลาคม 2569">
            <a:extLst>
              <a:ext uri="{FF2B5EF4-FFF2-40B4-BE49-F238E27FC236}">
                <a16:creationId xmlns:a16="http://schemas.microsoft.com/office/drawing/2014/main" id="{B8A998AF-14BB-593C-5965-837B397681C1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4445000"/>
            <a:ext cx="3429000" cy="2032000"/>
          </a:xfrm>
          <a:prstGeom prst="rect">
            <a:avLst/>
          </a:prstGeom>
          <a:ln w="7620">
            <a:solidFill>
              <a:srgbClr val="CAD7E4"/>
            </a:solidFill>
          </a:ln>
          <a:effectLst>
            <a:prstShdw prst="shdw1" dist="40161" dir="4293903">
              <a:srgbClr val="26405D">
                <a:alpha val="12000"/>
              </a:srgbClr>
            </a:prstShdw>
          </a:effectLst>
        </p:spPr>
      </p:pic>
    </p:spTree>
    <p:extLst>
      <p:ext uri="{BB962C8B-B14F-4D97-AF65-F5344CB8AC3E}">
        <p14:creationId xmlns:p14="http://schemas.microsoft.com/office/powerpoint/2010/main" val="3703931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Decorative theme background" descr="AI generated abstract blue and mint ribbon background, decorative only">
            <a:extLst>
              <a:ext uri="{FF2B5EF4-FFF2-40B4-BE49-F238E27FC236}">
                <a16:creationId xmlns:a16="http://schemas.microsoft.com/office/drawing/2014/main" id="{1634B42A-A478-A866-0A5D-90F3052C0F1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D63E43-54B1-DA61-721D-46AE8FB2F992}"/>
              </a:ext>
            </a:extLst>
          </p:cNvPr>
          <p:cNvSpPr txBox="1"/>
          <p:nvPr/>
        </p:nvSpPr>
        <p:spPr>
          <a:xfrm>
            <a:off x="508000" y="279399"/>
            <a:ext cx="10414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100" b="1">
                <a:solidFill>
                  <a:srgbClr val="098084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FEATURES · ADMIN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443174-BB8D-822E-B5E7-C76A6A68F794}"/>
              </a:ext>
            </a:extLst>
          </p:cNvPr>
          <p:cNvSpPr txBox="1"/>
          <p:nvPr/>
        </p:nvSpPr>
        <p:spPr>
          <a:xfrm>
            <a:off x="508000" y="685799"/>
            <a:ext cx="111760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3000" b="1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Admin: </a:t>
            </a:r>
            <a:r>
              <a:rPr lang="th-TH" sz="3000" b="1">
                <a:solidFill>
                  <a:srgbClr val="1B2B3F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เห็นภาพรวมและคิวทั้งสองฝ่าย</a:t>
            </a:r>
            <a:endParaRPr lang="en-US" sz="3000" b="1">
              <a:solidFill>
                <a:srgbClr val="1B2B3F"/>
              </a:solidFill>
              <a:latin typeface="Garamond" panose="020204040303010108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C066C7-9600-F75B-F5E2-D3467D162D95}"/>
              </a:ext>
            </a:extLst>
          </p:cNvPr>
          <p:cNvSpPr txBox="1"/>
          <p:nvPr/>
        </p:nvSpPr>
        <p:spPr>
          <a:xfrm>
            <a:off x="10731500" y="6477000"/>
            <a:ext cx="952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100">
                <a:solidFill>
                  <a:srgbClr val="4E6076"/>
                </a:solidFill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rPr>
              <a:t>11 / 12</a:t>
            </a:r>
          </a:p>
        </p:txBody>
      </p:sp>
      <p:pic>
        <p:nvPicPr>
          <p:cNvPr id="11" name="Screenshot admin-wide" descr="ภาพหน้าจอจริงของ TicketCenter / localhost หรือ Docker Desktop ถ่ายวันที่ 2 ตุลาคม 2569">
            <a:extLst>
              <a:ext uri="{FF2B5EF4-FFF2-40B4-BE49-F238E27FC236}">
                <a16:creationId xmlns:a16="http://schemas.microsoft.com/office/drawing/2014/main" id="{35D92793-6ACC-2E24-643A-AAC66A44EE8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562100"/>
            <a:ext cx="8763000" cy="4508500"/>
          </a:xfrm>
          <a:prstGeom prst="rect">
            <a:avLst/>
          </a:prstGeom>
          <a:ln w="7620">
            <a:solidFill>
              <a:srgbClr val="CAD7E4"/>
            </a:solidFill>
          </a:ln>
          <a:effectLst>
            <a:prstShdw prst="shdw1" dist="40161" dir="4293903">
              <a:srgbClr val="26405D">
                <a:alpha val="12000"/>
              </a:srgbClr>
            </a:prstShdw>
          </a:effectLst>
        </p:spPr>
      </p:pic>
    </p:spTree>
    <p:extLst>
      <p:ext uri="{BB962C8B-B14F-4D97-AF65-F5344CB8AC3E}">
        <p14:creationId xmlns:p14="http://schemas.microsoft.com/office/powerpoint/2010/main" val="2141657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2586</Words>
  <Application>Microsoft Office PowerPoint</Application>
  <PresentationFormat>Widescreen</PresentationFormat>
  <Paragraphs>205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Garamond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ANUPONG PONGPISITSAN</dc:creator>
  <cp:lastModifiedBy>ANUPONG PONGPISITSAN</cp:lastModifiedBy>
  <cp:revision>7</cp:revision>
  <dcterms:created xsi:type="dcterms:W3CDTF">2026-10-02T06:10:19Z</dcterms:created>
  <dcterms:modified xsi:type="dcterms:W3CDTF">2026-10-02T12:21:20Z</dcterms:modified>
</cp:coreProperties>
</file>